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492207"/>
    <a:srgbClr val="7E0000"/>
    <a:srgbClr val="7F7F7F"/>
    <a:srgbClr val="622E0A"/>
    <a:srgbClr val="7F6000"/>
    <a:srgbClr val="F8F8F8"/>
    <a:srgbClr val="4C0000"/>
    <a:srgbClr val="600000"/>
    <a:srgbClr val="A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400" d="100"/>
          <a:sy n="400" d="100"/>
        </p:scale>
        <p:origin x="-13782" y="-7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06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90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76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73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75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504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68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34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50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9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49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71F8C-44C0-4AB0-AC89-AD39347F46B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47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10889" y="244760"/>
            <a:ext cx="8652116" cy="4660330"/>
          </a:xfrm>
          <a:prstGeom prst="rect">
            <a:avLst/>
          </a:prstGeom>
          <a:solidFill>
            <a:srgbClr val="622E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979217" y="4898740"/>
            <a:ext cx="1185566" cy="244760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 smtClean="0">
                <a:solidFill>
                  <a:srgbClr val="622E0A"/>
                </a:solidFill>
                <a:latin typeface="Libre Baskerville" panose="02000000000000000000" pitchFamily="2" charset="0"/>
              </a:rPr>
              <a:t>Front Doors</a:t>
            </a:r>
            <a:endParaRPr lang="en-US" sz="1200" dirty="0">
              <a:solidFill>
                <a:srgbClr val="622E0A"/>
              </a:solidFill>
              <a:latin typeface="Libre Baskerville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60309" y="2490090"/>
            <a:ext cx="2623382" cy="45720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260309" y="2535810"/>
            <a:ext cx="45719" cy="1098036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33241" y="2535810"/>
            <a:ext cx="50450" cy="1463704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411657" y="2627250"/>
            <a:ext cx="807917" cy="376299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3490632" y="2669890"/>
            <a:ext cx="278261" cy="152925"/>
            <a:chOff x="3490632" y="2669890"/>
            <a:chExt cx="278261" cy="152925"/>
          </a:xfrm>
        </p:grpSpPr>
        <p:sp>
          <p:nvSpPr>
            <p:cNvPr id="13" name="Oval 12"/>
            <p:cNvSpPr/>
            <p:nvPr/>
          </p:nvSpPr>
          <p:spPr>
            <a:xfrm>
              <a:off x="3502310" y="2669890"/>
              <a:ext cx="45720" cy="45720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3586801" y="2696370"/>
              <a:ext cx="84200" cy="84200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3723173" y="2692750"/>
              <a:ext cx="45720" cy="45720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711527" y="2777095"/>
              <a:ext cx="45720" cy="45720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3490632" y="2761331"/>
              <a:ext cx="45720" cy="45720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3932437" y="2692750"/>
            <a:ext cx="166907" cy="152847"/>
            <a:chOff x="3909725" y="2706151"/>
            <a:chExt cx="166907" cy="152847"/>
          </a:xfrm>
        </p:grpSpPr>
        <p:grpSp>
          <p:nvGrpSpPr>
            <p:cNvPr id="35" name="Group 34"/>
            <p:cNvGrpSpPr/>
            <p:nvPr/>
          </p:nvGrpSpPr>
          <p:grpSpPr>
            <a:xfrm>
              <a:off x="3909725" y="2706151"/>
              <a:ext cx="166907" cy="152847"/>
              <a:chOff x="3909725" y="2706151"/>
              <a:chExt cx="166907" cy="152847"/>
            </a:xfrm>
          </p:grpSpPr>
          <p:grpSp>
            <p:nvGrpSpPr>
              <p:cNvPr id="34" name="Group 33"/>
              <p:cNvGrpSpPr/>
              <p:nvPr/>
            </p:nvGrpSpPr>
            <p:grpSpPr>
              <a:xfrm>
                <a:off x="3909725" y="2706151"/>
                <a:ext cx="166907" cy="152847"/>
                <a:chOff x="3909725" y="2706151"/>
                <a:chExt cx="166907" cy="152847"/>
              </a:xfrm>
            </p:grpSpPr>
            <p:grpSp>
              <p:nvGrpSpPr>
                <p:cNvPr id="33" name="Group 32"/>
                <p:cNvGrpSpPr/>
                <p:nvPr/>
              </p:nvGrpSpPr>
              <p:grpSpPr>
                <a:xfrm>
                  <a:off x="3909725" y="2706151"/>
                  <a:ext cx="166907" cy="152847"/>
                  <a:chOff x="3909725" y="2706151"/>
                  <a:chExt cx="166907" cy="152847"/>
                </a:xfrm>
              </p:grpSpPr>
              <p:grpSp>
                <p:nvGrpSpPr>
                  <p:cNvPr id="32" name="Group 31"/>
                  <p:cNvGrpSpPr/>
                  <p:nvPr/>
                </p:nvGrpSpPr>
                <p:grpSpPr>
                  <a:xfrm>
                    <a:off x="3909725" y="2706151"/>
                    <a:ext cx="166907" cy="152847"/>
                    <a:chOff x="3909725" y="2706151"/>
                    <a:chExt cx="166907" cy="152847"/>
                  </a:xfrm>
                </p:grpSpPr>
                <p:sp>
                  <p:nvSpPr>
                    <p:cNvPr id="19" name="Wave 18"/>
                    <p:cNvSpPr/>
                    <p:nvPr/>
                  </p:nvSpPr>
                  <p:spPr>
                    <a:xfrm rot="5400000">
                      <a:off x="3916755" y="2699121"/>
                      <a:ext cx="152847" cy="166907"/>
                    </a:xfrm>
                    <a:prstGeom prst="wave">
                      <a:avLst>
                        <a:gd name="adj1" fmla="val 4573"/>
                        <a:gd name="adj2" fmla="val 0"/>
                      </a:avLst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30" name="Straight Connector 29"/>
                    <p:cNvCxnSpPr/>
                    <p:nvPr/>
                  </p:nvCxnSpPr>
                  <p:spPr>
                    <a:xfrm>
                      <a:off x="3948477" y="2802765"/>
                      <a:ext cx="94166" cy="0"/>
                    </a:xfrm>
                    <a:prstGeom prst="line">
                      <a:avLst/>
                    </a:prstGeom>
                    <a:ln>
                      <a:solidFill>
                        <a:schemeClr val="tx2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" name="Straight Connector 30"/>
                    <p:cNvCxnSpPr/>
                    <p:nvPr/>
                  </p:nvCxnSpPr>
                  <p:spPr>
                    <a:xfrm>
                      <a:off x="4022297" y="2834279"/>
                      <a:ext cx="36000" cy="0"/>
                    </a:xfrm>
                    <a:prstGeom prst="line">
                      <a:avLst/>
                    </a:prstGeom>
                    <a:ln>
                      <a:solidFill>
                        <a:schemeClr val="tx2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Straight Connector 39"/>
                    <p:cNvCxnSpPr/>
                    <p:nvPr/>
                  </p:nvCxnSpPr>
                  <p:spPr>
                    <a:xfrm>
                      <a:off x="3948477" y="2836216"/>
                      <a:ext cx="36000" cy="0"/>
                    </a:xfrm>
                    <a:prstGeom prst="line">
                      <a:avLst/>
                    </a:prstGeom>
                    <a:ln>
                      <a:solidFill>
                        <a:schemeClr val="tx2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9" name="Straight Connector 28"/>
                  <p:cNvCxnSpPr/>
                  <p:nvPr/>
                </p:nvCxnSpPr>
                <p:spPr>
                  <a:xfrm>
                    <a:off x="3948477" y="2785335"/>
                    <a:ext cx="94166" cy="0"/>
                  </a:xfrm>
                  <a:prstGeom prst="line">
                    <a:avLst/>
                  </a:prstGeom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8" name="Straight Connector 27"/>
                <p:cNvCxnSpPr/>
                <p:nvPr/>
              </p:nvCxnSpPr>
              <p:spPr>
                <a:xfrm>
                  <a:off x="3951228" y="2769984"/>
                  <a:ext cx="94166" cy="0"/>
                </a:xfrm>
                <a:prstGeom prst="line">
                  <a:avLst/>
                </a:prstGeom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" name="Straight Connector 26"/>
              <p:cNvCxnSpPr/>
              <p:nvPr/>
            </p:nvCxnSpPr>
            <p:spPr>
              <a:xfrm>
                <a:off x="3951228" y="2752554"/>
                <a:ext cx="94166" cy="0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Straight Connector 22"/>
            <p:cNvCxnSpPr/>
            <p:nvPr/>
          </p:nvCxnSpPr>
          <p:spPr>
            <a:xfrm>
              <a:off x="3951228" y="2738470"/>
              <a:ext cx="94166" cy="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951228" y="2721040"/>
              <a:ext cx="94166" cy="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Oval 40"/>
          <p:cNvSpPr/>
          <p:nvPr/>
        </p:nvSpPr>
        <p:spPr>
          <a:xfrm>
            <a:off x="4143375" y="2707639"/>
            <a:ext cx="45719" cy="45719"/>
          </a:xfrm>
          <a:prstGeom prst="ellipse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1562100" y="3586106"/>
            <a:ext cx="1717870" cy="47740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1562100" y="2535810"/>
            <a:ext cx="50450" cy="1098036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260309" y="244760"/>
            <a:ext cx="50450" cy="2245330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562100" y="244760"/>
            <a:ext cx="50450" cy="1618178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1562100" y="1862938"/>
            <a:ext cx="749300" cy="45719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c 46"/>
          <p:cNvSpPr/>
          <p:nvPr/>
        </p:nvSpPr>
        <p:spPr>
          <a:xfrm rot="5400000">
            <a:off x="895350" y="1168400"/>
            <a:ext cx="1390650" cy="1390650"/>
          </a:xfrm>
          <a:prstGeom prst="arc">
            <a:avLst/>
          </a:prstGeom>
          <a:ln w="28575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245942" y="1475356"/>
            <a:ext cx="403466" cy="47740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1158634" y="1475356"/>
            <a:ext cx="403466" cy="47740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 rot="16200000">
            <a:off x="407497" y="1244613"/>
            <a:ext cx="509226" cy="47741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c 50"/>
          <p:cNvSpPr/>
          <p:nvPr/>
        </p:nvSpPr>
        <p:spPr>
          <a:xfrm>
            <a:off x="149179" y="1013870"/>
            <a:ext cx="1000458" cy="1000458"/>
          </a:xfrm>
          <a:prstGeom prst="arc">
            <a:avLst/>
          </a:prstGeom>
          <a:ln w="28575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4402615" y="2627250"/>
            <a:ext cx="1310397" cy="376299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rgbClr val="622E0A"/>
                </a:solidFill>
                <a:latin typeface="Libre Baskerville" panose="02000000000000000000" pitchFamily="2" charset="0"/>
              </a:rPr>
              <a:t>Bookcase</a:t>
            </a:r>
            <a:endParaRPr lang="en-US" dirty="0">
              <a:solidFill>
                <a:srgbClr val="622E0A"/>
              </a:solidFill>
              <a:latin typeface="Libre Baskerville" panose="02000000000000000000" pitchFamily="2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08251" y="396408"/>
            <a:ext cx="944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 smtClean="0">
                <a:solidFill>
                  <a:srgbClr val="492207"/>
                </a:solidFill>
                <a:latin typeface="Libre Baskerville" panose="02000000000000000000" pitchFamily="2" charset="0"/>
              </a:rPr>
              <a:t>Small Bedroom</a:t>
            </a:r>
            <a:endParaRPr lang="en-US" sz="1200" dirty="0">
              <a:solidFill>
                <a:srgbClr val="492207"/>
              </a:solidFill>
              <a:latin typeface="Libre Baskerville" panose="02000000000000000000" pitchFamily="2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025013" y="488740"/>
            <a:ext cx="9442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 smtClean="0">
                <a:solidFill>
                  <a:srgbClr val="492207"/>
                </a:solidFill>
                <a:latin typeface="Libre Baskerville" panose="02000000000000000000" pitchFamily="2" charset="0"/>
              </a:rPr>
              <a:t>Kitchen</a:t>
            </a:r>
            <a:endParaRPr lang="en-US" sz="1200" dirty="0">
              <a:solidFill>
                <a:srgbClr val="492207"/>
              </a:solidFill>
              <a:latin typeface="Libre Baskerville" panose="02000000000000000000" pitchFamily="2" charset="0"/>
            </a:endParaRPr>
          </a:p>
        </p:txBody>
      </p:sp>
      <p:grpSp>
        <p:nvGrpSpPr>
          <p:cNvPr id="87" name="Group 86"/>
          <p:cNvGrpSpPr/>
          <p:nvPr/>
        </p:nvGrpSpPr>
        <p:grpSpPr>
          <a:xfrm>
            <a:off x="4045394" y="3235609"/>
            <a:ext cx="1053212" cy="1386183"/>
            <a:chOff x="4045394" y="3424269"/>
            <a:chExt cx="1053212" cy="1386183"/>
          </a:xfrm>
        </p:grpSpPr>
        <p:grpSp>
          <p:nvGrpSpPr>
            <p:cNvPr id="80" name="Group 79"/>
            <p:cNvGrpSpPr/>
            <p:nvPr/>
          </p:nvGrpSpPr>
          <p:grpSpPr>
            <a:xfrm>
              <a:off x="4045394" y="3424269"/>
              <a:ext cx="1053212" cy="1386183"/>
              <a:chOff x="4045394" y="3424269"/>
              <a:chExt cx="1053212" cy="1386183"/>
            </a:xfrm>
          </p:grpSpPr>
          <p:grpSp>
            <p:nvGrpSpPr>
              <p:cNvPr id="76" name="Group 75"/>
              <p:cNvGrpSpPr/>
              <p:nvPr/>
            </p:nvGrpSpPr>
            <p:grpSpPr>
              <a:xfrm>
                <a:off x="4045394" y="3424269"/>
                <a:ext cx="1053212" cy="1386183"/>
                <a:chOff x="4045394" y="3424269"/>
                <a:chExt cx="1053212" cy="1386183"/>
              </a:xfrm>
            </p:grpSpPr>
            <p:grpSp>
              <p:nvGrpSpPr>
                <p:cNvPr id="71" name="Group 70"/>
                <p:cNvGrpSpPr/>
                <p:nvPr/>
              </p:nvGrpSpPr>
              <p:grpSpPr>
                <a:xfrm>
                  <a:off x="4045394" y="3424269"/>
                  <a:ext cx="1053212" cy="1386183"/>
                  <a:chOff x="4045394" y="3424269"/>
                  <a:chExt cx="1053212" cy="1386183"/>
                </a:xfrm>
              </p:grpSpPr>
              <p:grpSp>
                <p:nvGrpSpPr>
                  <p:cNvPr id="67" name="Group 66"/>
                  <p:cNvGrpSpPr/>
                  <p:nvPr/>
                </p:nvGrpSpPr>
                <p:grpSpPr>
                  <a:xfrm>
                    <a:off x="4045394" y="3424269"/>
                    <a:ext cx="1053212" cy="1386183"/>
                    <a:chOff x="4045394" y="3424269"/>
                    <a:chExt cx="1053212" cy="1386183"/>
                  </a:xfrm>
                </p:grpSpPr>
                <p:grpSp>
                  <p:nvGrpSpPr>
                    <p:cNvPr id="65" name="Group 64"/>
                    <p:cNvGrpSpPr/>
                    <p:nvPr/>
                  </p:nvGrpSpPr>
                  <p:grpSpPr>
                    <a:xfrm>
                      <a:off x="4045394" y="3424269"/>
                      <a:ext cx="1053212" cy="1386183"/>
                      <a:chOff x="4045394" y="3424269"/>
                      <a:chExt cx="1053212" cy="1386183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>
                        <a:off x="4045394" y="3424269"/>
                        <a:ext cx="1053212" cy="1386183"/>
                      </a:xfrm>
                      <a:prstGeom prst="rect">
                        <a:avLst/>
                      </a:prstGeom>
                      <a:solidFill>
                        <a:srgbClr val="60000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4" name="Rectangle 63"/>
                      <p:cNvSpPr/>
                      <p:nvPr/>
                    </p:nvSpPr>
                    <p:spPr>
                      <a:xfrm>
                        <a:off x="4095844" y="3479800"/>
                        <a:ext cx="941858" cy="1260988"/>
                      </a:xfrm>
                      <a:prstGeom prst="rect">
                        <a:avLst/>
                      </a:prstGeom>
                      <a:solidFill>
                        <a:srgbClr val="7E000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66" name="Flowchart: Decision 65"/>
                    <p:cNvSpPr/>
                    <p:nvPr/>
                  </p:nvSpPr>
                  <p:spPr>
                    <a:xfrm>
                      <a:off x="4277638" y="3632294"/>
                      <a:ext cx="557750" cy="956000"/>
                    </a:xfrm>
                    <a:prstGeom prst="flowChartDecision">
                      <a:avLst/>
                    </a:prstGeom>
                    <a:solidFill>
                      <a:srgbClr val="60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8" name="Flowchart: Decision 67"/>
                    <p:cNvSpPr/>
                    <p:nvPr/>
                  </p:nvSpPr>
                  <p:spPr>
                    <a:xfrm>
                      <a:off x="4332148" y="3721100"/>
                      <a:ext cx="454128" cy="778388"/>
                    </a:xfrm>
                    <a:prstGeom prst="flowChartDecision">
                      <a:avLst/>
                    </a:prstGeom>
                    <a:solidFill>
                      <a:srgbClr val="A4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70" name="Decagon 69"/>
                  <p:cNvSpPr/>
                  <p:nvPr/>
                </p:nvSpPr>
                <p:spPr>
                  <a:xfrm>
                    <a:off x="4410389" y="3960576"/>
                    <a:ext cx="303176" cy="299436"/>
                  </a:xfrm>
                  <a:prstGeom prst="decagon">
                    <a:avLst/>
                  </a:prstGeom>
                  <a:solidFill>
                    <a:srgbClr val="7F6000">
                      <a:alpha val="69804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2" name="L-Shape 71"/>
                <p:cNvSpPr/>
                <p:nvPr/>
              </p:nvSpPr>
              <p:spPr>
                <a:xfrm>
                  <a:off x="4095844" y="4480254"/>
                  <a:ext cx="260534" cy="260534"/>
                </a:xfrm>
                <a:prstGeom prst="corner">
                  <a:avLst/>
                </a:prstGeom>
                <a:solidFill>
                  <a:srgbClr val="7F6000">
                    <a:alpha val="6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L-Shape 72"/>
                <p:cNvSpPr/>
                <p:nvPr/>
              </p:nvSpPr>
              <p:spPr>
                <a:xfrm rot="16200000">
                  <a:off x="4772311" y="4480254"/>
                  <a:ext cx="260534" cy="260534"/>
                </a:xfrm>
                <a:prstGeom prst="corner">
                  <a:avLst/>
                </a:prstGeom>
                <a:solidFill>
                  <a:srgbClr val="7F6000">
                    <a:alpha val="6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L-Shape 74"/>
                <p:cNvSpPr/>
                <p:nvPr/>
              </p:nvSpPr>
              <p:spPr>
                <a:xfrm rot="10800000">
                  <a:off x="4779138" y="3476808"/>
                  <a:ext cx="260534" cy="260534"/>
                </a:xfrm>
                <a:prstGeom prst="corner">
                  <a:avLst/>
                </a:prstGeom>
                <a:solidFill>
                  <a:srgbClr val="7F6000">
                    <a:alpha val="6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L-Shape 73"/>
                <p:cNvSpPr/>
                <p:nvPr/>
              </p:nvSpPr>
              <p:spPr>
                <a:xfrm rot="5400000">
                  <a:off x="4102671" y="3476808"/>
                  <a:ext cx="260534" cy="260534"/>
                </a:xfrm>
                <a:prstGeom prst="corner">
                  <a:avLst/>
                </a:prstGeom>
                <a:solidFill>
                  <a:srgbClr val="7F6000">
                    <a:alpha val="6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9" name="Oval 78"/>
              <p:cNvSpPr/>
              <p:nvPr/>
            </p:nvSpPr>
            <p:spPr>
              <a:xfrm>
                <a:off x="4471372" y="4023010"/>
                <a:ext cx="179806" cy="179806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4819502" y="3529691"/>
                <a:ext cx="179806" cy="179806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4152342" y="3520073"/>
                <a:ext cx="179806" cy="179806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4809764" y="4521289"/>
                <a:ext cx="179806" cy="179806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4142604" y="4511671"/>
                <a:ext cx="179806" cy="179806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4286102" y="3783596"/>
                <a:ext cx="103054" cy="103054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Oval 88"/>
              <p:cNvSpPr/>
              <p:nvPr/>
            </p:nvSpPr>
            <p:spPr>
              <a:xfrm>
                <a:off x="4756890" y="3786700"/>
                <a:ext cx="103054" cy="103054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Oval 93"/>
              <p:cNvSpPr/>
              <p:nvPr/>
            </p:nvSpPr>
            <p:spPr>
              <a:xfrm>
                <a:off x="4284051" y="4350739"/>
                <a:ext cx="103054" cy="103054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/>
              <p:cNvSpPr/>
              <p:nvPr/>
            </p:nvSpPr>
            <p:spPr>
              <a:xfrm>
                <a:off x="4754839" y="4353843"/>
                <a:ext cx="103054" cy="103054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5" name="Rectangle 84"/>
            <p:cNvSpPr/>
            <p:nvPr/>
          </p:nvSpPr>
          <p:spPr>
            <a:xfrm>
              <a:off x="4921326" y="3800488"/>
              <a:ext cx="118345" cy="553144"/>
            </a:xfrm>
            <a:prstGeom prst="rect">
              <a:avLst/>
            </a:prstGeom>
            <a:solidFill>
              <a:srgbClr val="7F6000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4095844" y="3800488"/>
              <a:ext cx="118345" cy="553144"/>
            </a:xfrm>
            <a:prstGeom prst="rect">
              <a:avLst/>
            </a:prstGeom>
            <a:solidFill>
              <a:srgbClr val="7F6000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315930" y="2260280"/>
            <a:ext cx="1053212" cy="1386183"/>
            <a:chOff x="4045394" y="3424269"/>
            <a:chExt cx="1053212" cy="1386183"/>
          </a:xfrm>
        </p:grpSpPr>
        <p:grpSp>
          <p:nvGrpSpPr>
            <p:cNvPr id="97" name="Group 96"/>
            <p:cNvGrpSpPr/>
            <p:nvPr/>
          </p:nvGrpSpPr>
          <p:grpSpPr>
            <a:xfrm>
              <a:off x="4045394" y="3424269"/>
              <a:ext cx="1053212" cy="1386183"/>
              <a:chOff x="4045394" y="3424269"/>
              <a:chExt cx="1053212" cy="1386183"/>
            </a:xfrm>
          </p:grpSpPr>
          <p:grpSp>
            <p:nvGrpSpPr>
              <p:cNvPr id="100" name="Group 99"/>
              <p:cNvGrpSpPr/>
              <p:nvPr/>
            </p:nvGrpSpPr>
            <p:grpSpPr>
              <a:xfrm>
                <a:off x="4045394" y="3424269"/>
                <a:ext cx="1053212" cy="1386183"/>
                <a:chOff x="4045394" y="3424269"/>
                <a:chExt cx="1053212" cy="1386183"/>
              </a:xfrm>
            </p:grpSpPr>
            <p:grpSp>
              <p:nvGrpSpPr>
                <p:cNvPr id="110" name="Group 109"/>
                <p:cNvGrpSpPr/>
                <p:nvPr/>
              </p:nvGrpSpPr>
              <p:grpSpPr>
                <a:xfrm>
                  <a:off x="4045394" y="3424269"/>
                  <a:ext cx="1053212" cy="1386183"/>
                  <a:chOff x="4045394" y="3424269"/>
                  <a:chExt cx="1053212" cy="1386183"/>
                </a:xfrm>
              </p:grpSpPr>
              <p:grpSp>
                <p:nvGrpSpPr>
                  <p:cNvPr id="115" name="Group 114"/>
                  <p:cNvGrpSpPr/>
                  <p:nvPr/>
                </p:nvGrpSpPr>
                <p:grpSpPr>
                  <a:xfrm>
                    <a:off x="4045394" y="3424269"/>
                    <a:ext cx="1053212" cy="1386183"/>
                    <a:chOff x="4045394" y="3424269"/>
                    <a:chExt cx="1053212" cy="1386183"/>
                  </a:xfrm>
                </p:grpSpPr>
                <p:grpSp>
                  <p:nvGrpSpPr>
                    <p:cNvPr id="117" name="Group 116"/>
                    <p:cNvGrpSpPr/>
                    <p:nvPr/>
                  </p:nvGrpSpPr>
                  <p:grpSpPr>
                    <a:xfrm>
                      <a:off x="4045394" y="3424269"/>
                      <a:ext cx="1053212" cy="1386183"/>
                      <a:chOff x="4045394" y="3424269"/>
                      <a:chExt cx="1053212" cy="1386183"/>
                    </a:xfrm>
                  </p:grpSpPr>
                  <p:sp>
                    <p:nvSpPr>
                      <p:cNvPr id="120" name="Rectangle 119"/>
                      <p:cNvSpPr/>
                      <p:nvPr/>
                    </p:nvSpPr>
                    <p:spPr>
                      <a:xfrm>
                        <a:off x="4045394" y="3424269"/>
                        <a:ext cx="1053212" cy="1386183"/>
                      </a:xfrm>
                      <a:prstGeom prst="rect">
                        <a:avLst/>
                      </a:prstGeom>
                      <a:solidFill>
                        <a:srgbClr val="60000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21" name="Rectangle 120"/>
                      <p:cNvSpPr/>
                      <p:nvPr/>
                    </p:nvSpPr>
                    <p:spPr>
                      <a:xfrm>
                        <a:off x="4095844" y="3479800"/>
                        <a:ext cx="941858" cy="1260988"/>
                      </a:xfrm>
                      <a:prstGeom prst="rect">
                        <a:avLst/>
                      </a:prstGeom>
                      <a:solidFill>
                        <a:srgbClr val="7E000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118" name="Flowchart: Decision 117"/>
                    <p:cNvSpPr/>
                    <p:nvPr/>
                  </p:nvSpPr>
                  <p:spPr>
                    <a:xfrm>
                      <a:off x="4277638" y="3632294"/>
                      <a:ext cx="557750" cy="956000"/>
                    </a:xfrm>
                    <a:prstGeom prst="flowChartDecision">
                      <a:avLst/>
                    </a:prstGeom>
                    <a:solidFill>
                      <a:srgbClr val="60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9" name="Flowchart: Decision 118"/>
                    <p:cNvSpPr/>
                    <p:nvPr/>
                  </p:nvSpPr>
                  <p:spPr>
                    <a:xfrm>
                      <a:off x="4332148" y="3721100"/>
                      <a:ext cx="454128" cy="778388"/>
                    </a:xfrm>
                    <a:prstGeom prst="flowChartDecision">
                      <a:avLst/>
                    </a:prstGeom>
                    <a:solidFill>
                      <a:srgbClr val="A4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16" name="Decagon 115"/>
                  <p:cNvSpPr/>
                  <p:nvPr/>
                </p:nvSpPr>
                <p:spPr>
                  <a:xfrm>
                    <a:off x="4410389" y="3960576"/>
                    <a:ext cx="303176" cy="299436"/>
                  </a:xfrm>
                  <a:prstGeom prst="decagon">
                    <a:avLst/>
                  </a:prstGeom>
                  <a:solidFill>
                    <a:srgbClr val="7F6000">
                      <a:alpha val="69804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11" name="L-Shape 110"/>
                <p:cNvSpPr/>
                <p:nvPr/>
              </p:nvSpPr>
              <p:spPr>
                <a:xfrm>
                  <a:off x="4095844" y="4480254"/>
                  <a:ext cx="260534" cy="260534"/>
                </a:xfrm>
                <a:prstGeom prst="corner">
                  <a:avLst/>
                </a:prstGeom>
                <a:solidFill>
                  <a:srgbClr val="7F6000">
                    <a:alpha val="6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L-Shape 111"/>
                <p:cNvSpPr/>
                <p:nvPr/>
              </p:nvSpPr>
              <p:spPr>
                <a:xfrm rot="16200000">
                  <a:off x="4772311" y="4480254"/>
                  <a:ext cx="260534" cy="260534"/>
                </a:xfrm>
                <a:prstGeom prst="corner">
                  <a:avLst/>
                </a:prstGeom>
                <a:solidFill>
                  <a:srgbClr val="7F6000">
                    <a:alpha val="6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L-Shape 112"/>
                <p:cNvSpPr/>
                <p:nvPr/>
              </p:nvSpPr>
              <p:spPr>
                <a:xfrm rot="10800000">
                  <a:off x="4779138" y="3476808"/>
                  <a:ext cx="260534" cy="260534"/>
                </a:xfrm>
                <a:prstGeom prst="corner">
                  <a:avLst/>
                </a:prstGeom>
                <a:solidFill>
                  <a:srgbClr val="7F6000">
                    <a:alpha val="6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L-Shape 113"/>
                <p:cNvSpPr/>
                <p:nvPr/>
              </p:nvSpPr>
              <p:spPr>
                <a:xfrm rot="5400000">
                  <a:off x="4102671" y="3476808"/>
                  <a:ext cx="260534" cy="260534"/>
                </a:xfrm>
                <a:prstGeom prst="corner">
                  <a:avLst/>
                </a:prstGeom>
                <a:solidFill>
                  <a:srgbClr val="7F6000">
                    <a:alpha val="6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1" name="Oval 100"/>
              <p:cNvSpPr/>
              <p:nvPr/>
            </p:nvSpPr>
            <p:spPr>
              <a:xfrm>
                <a:off x="4471372" y="4023010"/>
                <a:ext cx="179806" cy="179806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4819502" y="3529691"/>
                <a:ext cx="179806" cy="179806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Oval 102"/>
              <p:cNvSpPr/>
              <p:nvPr/>
            </p:nvSpPr>
            <p:spPr>
              <a:xfrm>
                <a:off x="4152342" y="3520073"/>
                <a:ext cx="179806" cy="179806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Oval 103"/>
              <p:cNvSpPr/>
              <p:nvPr/>
            </p:nvSpPr>
            <p:spPr>
              <a:xfrm>
                <a:off x="4809764" y="4521289"/>
                <a:ext cx="179806" cy="179806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/>
              <p:cNvSpPr/>
              <p:nvPr/>
            </p:nvSpPr>
            <p:spPr>
              <a:xfrm>
                <a:off x="4142604" y="4511671"/>
                <a:ext cx="179806" cy="179806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Oval 105"/>
              <p:cNvSpPr/>
              <p:nvPr/>
            </p:nvSpPr>
            <p:spPr>
              <a:xfrm>
                <a:off x="4286102" y="3783596"/>
                <a:ext cx="103054" cy="103054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4756890" y="3786700"/>
                <a:ext cx="103054" cy="103054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4284051" y="4350739"/>
                <a:ext cx="103054" cy="103054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4754839" y="4353843"/>
                <a:ext cx="103054" cy="103054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8" name="Rectangle 97"/>
            <p:cNvSpPr/>
            <p:nvPr/>
          </p:nvSpPr>
          <p:spPr>
            <a:xfrm>
              <a:off x="4921326" y="3800488"/>
              <a:ext cx="118345" cy="553144"/>
            </a:xfrm>
            <a:prstGeom prst="rect">
              <a:avLst/>
            </a:prstGeom>
            <a:solidFill>
              <a:srgbClr val="7F6000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4095844" y="3800488"/>
              <a:ext cx="118345" cy="553144"/>
            </a:xfrm>
            <a:prstGeom prst="rect">
              <a:avLst/>
            </a:prstGeom>
            <a:solidFill>
              <a:srgbClr val="7F6000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206032" y="4260850"/>
            <a:ext cx="1323707" cy="644240"/>
            <a:chOff x="206032" y="4254500"/>
            <a:chExt cx="1323707" cy="644240"/>
          </a:xfrm>
        </p:grpSpPr>
        <p:grpSp>
          <p:nvGrpSpPr>
            <p:cNvPr id="58" name="Group 57"/>
            <p:cNvGrpSpPr/>
            <p:nvPr/>
          </p:nvGrpSpPr>
          <p:grpSpPr>
            <a:xfrm>
              <a:off x="206032" y="4254500"/>
              <a:ext cx="1323707" cy="644240"/>
              <a:chOff x="238393" y="4254500"/>
              <a:chExt cx="1323707" cy="644240"/>
            </a:xfrm>
          </p:grpSpPr>
          <p:sp>
            <p:nvSpPr>
              <p:cNvPr id="52" name="Rectangle 51"/>
              <p:cNvSpPr/>
              <p:nvPr/>
            </p:nvSpPr>
            <p:spPr>
              <a:xfrm>
                <a:off x="243972" y="4254500"/>
                <a:ext cx="1318128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243972" y="4254500"/>
                <a:ext cx="1207583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243972" y="4254500"/>
                <a:ext cx="1108578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252076" y="4254500"/>
                <a:ext cx="986174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240607" y="4254500"/>
                <a:ext cx="909030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248058" y="4254500"/>
                <a:ext cx="799692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238393" y="4254500"/>
                <a:ext cx="714107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2" name="TextBox 121"/>
            <p:cNvSpPr txBox="1"/>
            <p:nvPr/>
          </p:nvSpPr>
          <p:spPr>
            <a:xfrm>
              <a:off x="235250" y="4310828"/>
              <a:ext cx="1020142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dirty="0" smtClean="0">
                  <a:solidFill>
                    <a:srgbClr val="622E0A"/>
                  </a:solidFill>
                  <a:latin typeface="Libre Baskerville" panose="02000000000000000000" pitchFamily="2" charset="0"/>
                </a:rPr>
                <a:t>Wine Cellar</a:t>
              </a:r>
              <a:endParaRPr lang="en-US" dirty="0">
                <a:solidFill>
                  <a:srgbClr val="622E0A"/>
                </a:solidFill>
                <a:latin typeface="Libre Baskerville" panose="02000000000000000000" pitchFamily="2" charset="0"/>
              </a:endParaRPr>
            </a:p>
          </p:txBody>
        </p:sp>
      </p:grpSp>
      <p:sp>
        <p:nvSpPr>
          <p:cNvPr id="125" name="Rectangle 124"/>
          <p:cNvSpPr/>
          <p:nvPr/>
        </p:nvSpPr>
        <p:spPr>
          <a:xfrm>
            <a:off x="1995631" y="4495992"/>
            <a:ext cx="1310397" cy="376299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rgbClr val="622E0A"/>
                </a:solidFill>
                <a:latin typeface="Libre Baskerville" panose="02000000000000000000" pitchFamily="2" charset="0"/>
              </a:rPr>
              <a:t>Bookcase</a:t>
            </a:r>
            <a:endParaRPr lang="en-US" dirty="0">
              <a:solidFill>
                <a:srgbClr val="622E0A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1691316" y="3145469"/>
            <a:ext cx="1089273" cy="376299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1">
                    <a:lumMod val="65000"/>
                  </a:schemeClr>
                </a:solidFill>
                <a:latin typeface="Libre Baskerville" panose="02000000000000000000" pitchFamily="2" charset="0"/>
              </a:rPr>
              <a:t>Hearth</a:t>
            </a:r>
            <a:endParaRPr lang="en-US" dirty="0">
              <a:solidFill>
                <a:schemeClr val="bg1">
                  <a:lumMod val="65000"/>
                </a:schemeClr>
              </a:solidFill>
              <a:latin typeface="Libre Baskerville" panose="02000000000000000000" pitchFamily="2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5833486" y="244760"/>
            <a:ext cx="50205" cy="1618178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5213350" y="1823575"/>
            <a:ext cx="668346" cy="45719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Arc 129"/>
          <p:cNvSpPr/>
          <p:nvPr/>
        </p:nvSpPr>
        <p:spPr>
          <a:xfrm rot="10800000">
            <a:off x="5229067" y="1206392"/>
            <a:ext cx="1305258" cy="1305258"/>
          </a:xfrm>
          <a:prstGeom prst="arc">
            <a:avLst/>
          </a:prstGeom>
          <a:ln w="28575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/>
          <p:cNvSpPr txBox="1"/>
          <p:nvPr/>
        </p:nvSpPr>
        <p:spPr>
          <a:xfrm>
            <a:off x="3989189" y="1870556"/>
            <a:ext cx="944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 smtClean="0">
                <a:solidFill>
                  <a:srgbClr val="492207"/>
                </a:solidFill>
                <a:latin typeface="Libre Baskerville" panose="02000000000000000000" pitchFamily="2" charset="0"/>
              </a:rPr>
              <a:t>Large Bedroom</a:t>
            </a:r>
            <a:endParaRPr lang="en-US" sz="1200" dirty="0">
              <a:solidFill>
                <a:srgbClr val="492207"/>
              </a:solidFill>
              <a:latin typeface="Libre Baskerville" panose="02000000000000000000" pitchFamily="2" charset="0"/>
            </a:endParaRPr>
          </a:p>
        </p:txBody>
      </p:sp>
      <p:grpSp>
        <p:nvGrpSpPr>
          <p:cNvPr id="134" name="Group 133"/>
          <p:cNvGrpSpPr/>
          <p:nvPr/>
        </p:nvGrpSpPr>
        <p:grpSpPr>
          <a:xfrm>
            <a:off x="4446420" y="349588"/>
            <a:ext cx="1297188" cy="1229227"/>
            <a:chOff x="4446420" y="349588"/>
            <a:chExt cx="1297188" cy="1229227"/>
          </a:xfrm>
        </p:grpSpPr>
        <p:sp>
          <p:nvSpPr>
            <p:cNvPr id="132" name="Rectangle 131"/>
            <p:cNvSpPr/>
            <p:nvPr/>
          </p:nvSpPr>
          <p:spPr>
            <a:xfrm>
              <a:off x="4446420" y="349588"/>
              <a:ext cx="1297188" cy="1229227"/>
            </a:xfrm>
            <a:prstGeom prst="rect">
              <a:avLst/>
            </a:prstGeom>
            <a:solidFill>
              <a:srgbClr val="4922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4488130" y="397914"/>
              <a:ext cx="1205532" cy="1125182"/>
            </a:xfrm>
            <a:prstGeom prst="rect">
              <a:avLst/>
            </a:prstGeom>
            <a:solidFill>
              <a:srgbClr val="7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5" name="Rounded Rectangle 134"/>
          <p:cNvSpPr/>
          <p:nvPr/>
        </p:nvSpPr>
        <p:spPr>
          <a:xfrm>
            <a:off x="4547852" y="455883"/>
            <a:ext cx="517900" cy="30979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ounded Rectangle 136"/>
          <p:cNvSpPr/>
          <p:nvPr/>
        </p:nvSpPr>
        <p:spPr>
          <a:xfrm>
            <a:off x="5124686" y="455883"/>
            <a:ext cx="517900" cy="30979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4488130" y="806717"/>
            <a:ext cx="1205532" cy="7163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/>
          <p:cNvSpPr/>
          <p:nvPr/>
        </p:nvSpPr>
        <p:spPr>
          <a:xfrm rot="16200000">
            <a:off x="2969791" y="1737036"/>
            <a:ext cx="1107173" cy="376299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rgbClr val="622E0A"/>
                </a:solidFill>
                <a:latin typeface="Libre Baskerville" panose="02000000000000000000" pitchFamily="2" charset="0"/>
              </a:rPr>
              <a:t>Wardrobe</a:t>
            </a:r>
            <a:endParaRPr lang="en-US" dirty="0">
              <a:solidFill>
                <a:srgbClr val="622E0A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40" name="Rectangle 139"/>
          <p:cNvSpPr/>
          <p:nvPr/>
        </p:nvSpPr>
        <p:spPr>
          <a:xfrm rot="16200000">
            <a:off x="3117470" y="626647"/>
            <a:ext cx="826386" cy="376299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1">
                    <a:lumMod val="65000"/>
                  </a:schemeClr>
                </a:solidFill>
                <a:latin typeface="Libre Baskerville" panose="02000000000000000000" pitchFamily="2" charset="0"/>
              </a:rPr>
              <a:t>Hearth</a:t>
            </a:r>
            <a:endParaRPr lang="en-US" dirty="0">
              <a:solidFill>
                <a:schemeClr val="bg1">
                  <a:lumMod val="65000"/>
                </a:schemeClr>
              </a:solidFill>
              <a:latin typeface="Libre Baskerville" panose="02000000000000000000" pitchFamily="2" charset="0"/>
            </a:endParaRPr>
          </a:p>
        </p:txBody>
      </p:sp>
      <p:grpSp>
        <p:nvGrpSpPr>
          <p:cNvPr id="146" name="Group 145"/>
          <p:cNvGrpSpPr/>
          <p:nvPr/>
        </p:nvGrpSpPr>
        <p:grpSpPr>
          <a:xfrm>
            <a:off x="2873773" y="858073"/>
            <a:ext cx="367513" cy="2287396"/>
            <a:chOff x="2873773" y="858073"/>
            <a:chExt cx="367513" cy="2710004"/>
          </a:xfrm>
        </p:grpSpPr>
        <p:sp>
          <p:nvSpPr>
            <p:cNvPr id="126" name="Rectangle 125"/>
            <p:cNvSpPr/>
            <p:nvPr/>
          </p:nvSpPr>
          <p:spPr>
            <a:xfrm>
              <a:off x="2873773" y="858073"/>
              <a:ext cx="361311" cy="2710004"/>
            </a:xfrm>
            <a:prstGeom prst="rect">
              <a:avLst/>
            </a:prstGeom>
            <a:solidFill>
              <a:srgbClr val="4922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3062651" y="858073"/>
              <a:ext cx="178635" cy="2710004"/>
            </a:xfrm>
            <a:prstGeom prst="rect">
              <a:avLst/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2" name="Rectangle 141"/>
          <p:cNvSpPr/>
          <p:nvPr/>
        </p:nvSpPr>
        <p:spPr>
          <a:xfrm>
            <a:off x="6933610" y="244760"/>
            <a:ext cx="45719" cy="3769396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/>
          <p:cNvSpPr/>
          <p:nvPr/>
        </p:nvSpPr>
        <p:spPr>
          <a:xfrm>
            <a:off x="6970415" y="3968437"/>
            <a:ext cx="668346" cy="45719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Arc 143"/>
          <p:cNvSpPr/>
          <p:nvPr/>
        </p:nvSpPr>
        <p:spPr>
          <a:xfrm rot="5400000">
            <a:off x="6314211" y="3347682"/>
            <a:ext cx="1305258" cy="1305258"/>
          </a:xfrm>
          <a:prstGeom prst="arc">
            <a:avLst/>
          </a:prstGeom>
          <a:ln w="28575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/>
          <p:cNvSpPr/>
          <p:nvPr/>
        </p:nvSpPr>
        <p:spPr>
          <a:xfrm>
            <a:off x="6933610" y="4634492"/>
            <a:ext cx="45719" cy="253976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9" name="Group 148"/>
          <p:cNvGrpSpPr/>
          <p:nvPr/>
        </p:nvGrpSpPr>
        <p:grpSpPr>
          <a:xfrm>
            <a:off x="2836912" y="3174001"/>
            <a:ext cx="377756" cy="377756"/>
            <a:chOff x="2836912" y="3174001"/>
            <a:chExt cx="377756" cy="377756"/>
          </a:xfrm>
        </p:grpSpPr>
        <p:sp>
          <p:nvSpPr>
            <p:cNvPr id="147" name="Oval 146"/>
            <p:cNvSpPr/>
            <p:nvPr/>
          </p:nvSpPr>
          <p:spPr>
            <a:xfrm>
              <a:off x="2836912" y="3174001"/>
              <a:ext cx="377756" cy="377756"/>
            </a:xfrm>
            <a:prstGeom prst="ellipse">
              <a:avLst/>
            </a:prstGeom>
            <a:solidFill>
              <a:srgbClr val="492207"/>
            </a:solidFill>
            <a:ln>
              <a:solidFill>
                <a:srgbClr val="000000">
                  <a:alpha val="30196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/>
            <p:cNvSpPr/>
            <p:nvPr/>
          </p:nvSpPr>
          <p:spPr>
            <a:xfrm>
              <a:off x="2924781" y="3280114"/>
              <a:ext cx="45720" cy="45720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0" name="Rectangle 149"/>
          <p:cNvSpPr/>
          <p:nvPr/>
        </p:nvSpPr>
        <p:spPr>
          <a:xfrm>
            <a:off x="7508184" y="300590"/>
            <a:ext cx="1310397" cy="376299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rgbClr val="622E0A"/>
                </a:solidFill>
                <a:latin typeface="Libre Baskerville" panose="02000000000000000000" pitchFamily="2" charset="0"/>
              </a:rPr>
              <a:t>Bookcase</a:t>
            </a:r>
            <a:endParaRPr lang="en-US" dirty="0">
              <a:solidFill>
                <a:srgbClr val="622E0A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7508184" y="1012459"/>
            <a:ext cx="1310397" cy="376299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rgbClr val="622E0A"/>
                </a:solidFill>
                <a:latin typeface="Libre Baskerville" panose="02000000000000000000" pitchFamily="2" charset="0"/>
              </a:rPr>
              <a:t>Bookcase</a:t>
            </a:r>
            <a:endParaRPr lang="en-US" dirty="0">
              <a:solidFill>
                <a:srgbClr val="622E0A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7508184" y="1727778"/>
            <a:ext cx="1310397" cy="376299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rgbClr val="622E0A"/>
                </a:solidFill>
                <a:latin typeface="Libre Baskerville" panose="02000000000000000000" pitchFamily="2" charset="0"/>
              </a:rPr>
              <a:t>Bookcase</a:t>
            </a:r>
            <a:endParaRPr lang="en-US" dirty="0">
              <a:solidFill>
                <a:srgbClr val="622E0A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7508184" y="2439647"/>
            <a:ext cx="1310397" cy="376299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rgbClr val="622E0A"/>
                </a:solidFill>
                <a:latin typeface="Libre Baskerville" panose="02000000000000000000" pitchFamily="2" charset="0"/>
              </a:rPr>
              <a:t>Bookcase</a:t>
            </a:r>
            <a:endParaRPr lang="en-US" dirty="0">
              <a:solidFill>
                <a:srgbClr val="622E0A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7508184" y="3160807"/>
            <a:ext cx="1310397" cy="376299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rgbClr val="622E0A"/>
                </a:solidFill>
                <a:latin typeface="Libre Baskerville" panose="02000000000000000000" pitchFamily="2" charset="0"/>
              </a:rPr>
              <a:t>Bookcase</a:t>
            </a:r>
            <a:endParaRPr lang="en-US" dirty="0">
              <a:solidFill>
                <a:srgbClr val="622E0A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8401050" y="3881968"/>
            <a:ext cx="404620" cy="959122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7" name="Group 156"/>
          <p:cNvGrpSpPr/>
          <p:nvPr/>
        </p:nvGrpSpPr>
        <p:grpSpPr>
          <a:xfrm rot="5400000">
            <a:off x="8524977" y="4474615"/>
            <a:ext cx="166907" cy="152847"/>
            <a:chOff x="3909725" y="2706151"/>
            <a:chExt cx="166907" cy="152847"/>
          </a:xfrm>
        </p:grpSpPr>
        <p:grpSp>
          <p:nvGrpSpPr>
            <p:cNvPr id="158" name="Group 157"/>
            <p:cNvGrpSpPr/>
            <p:nvPr/>
          </p:nvGrpSpPr>
          <p:grpSpPr>
            <a:xfrm>
              <a:off x="3909725" y="2706151"/>
              <a:ext cx="166907" cy="152847"/>
              <a:chOff x="3909725" y="2706151"/>
              <a:chExt cx="166907" cy="152847"/>
            </a:xfrm>
          </p:grpSpPr>
          <p:grpSp>
            <p:nvGrpSpPr>
              <p:cNvPr id="161" name="Group 160"/>
              <p:cNvGrpSpPr/>
              <p:nvPr/>
            </p:nvGrpSpPr>
            <p:grpSpPr>
              <a:xfrm>
                <a:off x="3909725" y="2706151"/>
                <a:ext cx="166907" cy="152847"/>
                <a:chOff x="3909725" y="2706151"/>
                <a:chExt cx="166907" cy="152847"/>
              </a:xfrm>
            </p:grpSpPr>
            <p:grpSp>
              <p:nvGrpSpPr>
                <p:cNvPr id="163" name="Group 162"/>
                <p:cNvGrpSpPr/>
                <p:nvPr/>
              </p:nvGrpSpPr>
              <p:grpSpPr>
                <a:xfrm>
                  <a:off x="3909725" y="2706151"/>
                  <a:ext cx="166907" cy="152847"/>
                  <a:chOff x="3909725" y="2706151"/>
                  <a:chExt cx="166907" cy="152847"/>
                </a:xfrm>
              </p:grpSpPr>
              <p:grpSp>
                <p:nvGrpSpPr>
                  <p:cNvPr id="165" name="Group 164"/>
                  <p:cNvGrpSpPr/>
                  <p:nvPr/>
                </p:nvGrpSpPr>
                <p:grpSpPr>
                  <a:xfrm>
                    <a:off x="3909725" y="2706151"/>
                    <a:ext cx="166907" cy="152847"/>
                    <a:chOff x="3909725" y="2706151"/>
                    <a:chExt cx="166907" cy="152847"/>
                  </a:xfrm>
                </p:grpSpPr>
                <p:sp>
                  <p:nvSpPr>
                    <p:cNvPr id="167" name="Wave 166"/>
                    <p:cNvSpPr/>
                    <p:nvPr/>
                  </p:nvSpPr>
                  <p:spPr>
                    <a:xfrm rot="5400000">
                      <a:off x="3916755" y="2699121"/>
                      <a:ext cx="152847" cy="166907"/>
                    </a:xfrm>
                    <a:prstGeom prst="wave">
                      <a:avLst>
                        <a:gd name="adj1" fmla="val 4573"/>
                        <a:gd name="adj2" fmla="val 0"/>
                      </a:avLst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68" name="Straight Connector 167"/>
                    <p:cNvCxnSpPr/>
                    <p:nvPr/>
                  </p:nvCxnSpPr>
                  <p:spPr>
                    <a:xfrm>
                      <a:off x="3948477" y="2802765"/>
                      <a:ext cx="94166" cy="0"/>
                    </a:xfrm>
                    <a:prstGeom prst="line">
                      <a:avLst/>
                    </a:prstGeom>
                    <a:ln>
                      <a:solidFill>
                        <a:schemeClr val="tx2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9" name="Straight Connector 168"/>
                    <p:cNvCxnSpPr/>
                    <p:nvPr/>
                  </p:nvCxnSpPr>
                  <p:spPr>
                    <a:xfrm>
                      <a:off x="4022297" y="2834279"/>
                      <a:ext cx="36000" cy="0"/>
                    </a:xfrm>
                    <a:prstGeom prst="line">
                      <a:avLst/>
                    </a:prstGeom>
                    <a:ln>
                      <a:solidFill>
                        <a:schemeClr val="tx2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0" name="Straight Connector 169"/>
                    <p:cNvCxnSpPr/>
                    <p:nvPr/>
                  </p:nvCxnSpPr>
                  <p:spPr>
                    <a:xfrm>
                      <a:off x="3948477" y="2836216"/>
                      <a:ext cx="36000" cy="0"/>
                    </a:xfrm>
                    <a:prstGeom prst="line">
                      <a:avLst/>
                    </a:prstGeom>
                    <a:ln>
                      <a:solidFill>
                        <a:schemeClr val="tx2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66" name="Straight Connector 165"/>
                  <p:cNvCxnSpPr/>
                  <p:nvPr/>
                </p:nvCxnSpPr>
                <p:spPr>
                  <a:xfrm>
                    <a:off x="3948477" y="2785335"/>
                    <a:ext cx="94166" cy="0"/>
                  </a:xfrm>
                  <a:prstGeom prst="line">
                    <a:avLst/>
                  </a:prstGeom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4" name="Straight Connector 163"/>
                <p:cNvCxnSpPr/>
                <p:nvPr/>
              </p:nvCxnSpPr>
              <p:spPr>
                <a:xfrm>
                  <a:off x="3951228" y="2769984"/>
                  <a:ext cx="94166" cy="0"/>
                </a:xfrm>
                <a:prstGeom prst="line">
                  <a:avLst/>
                </a:prstGeom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2" name="Straight Connector 161"/>
              <p:cNvCxnSpPr/>
              <p:nvPr/>
            </p:nvCxnSpPr>
            <p:spPr>
              <a:xfrm>
                <a:off x="3951228" y="2752554"/>
                <a:ext cx="94166" cy="0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9" name="Straight Connector 158"/>
            <p:cNvCxnSpPr/>
            <p:nvPr/>
          </p:nvCxnSpPr>
          <p:spPr>
            <a:xfrm>
              <a:off x="3951228" y="2738470"/>
              <a:ext cx="94166" cy="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/>
          </p:nvCxnSpPr>
          <p:spPr>
            <a:xfrm>
              <a:off x="3951228" y="2721040"/>
              <a:ext cx="94166" cy="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1" name="Oval 170"/>
          <p:cNvSpPr/>
          <p:nvPr/>
        </p:nvSpPr>
        <p:spPr>
          <a:xfrm>
            <a:off x="8676525" y="4687053"/>
            <a:ext cx="45719" cy="45719"/>
          </a:xfrm>
          <a:prstGeom prst="ellipse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TextBox 171"/>
          <p:cNvSpPr txBox="1"/>
          <p:nvPr/>
        </p:nvSpPr>
        <p:spPr>
          <a:xfrm>
            <a:off x="7380376" y="4591029"/>
            <a:ext cx="9442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 smtClean="0">
                <a:solidFill>
                  <a:srgbClr val="492207"/>
                </a:solidFill>
                <a:latin typeface="Libre Baskerville" panose="02000000000000000000" pitchFamily="2" charset="0"/>
              </a:rPr>
              <a:t>Library</a:t>
            </a:r>
            <a:endParaRPr lang="en-US" sz="1200" dirty="0">
              <a:solidFill>
                <a:srgbClr val="492207"/>
              </a:solidFill>
              <a:latin typeface="Libre Baskerville" panose="02000000000000000000" pitchFamily="2" charset="0"/>
            </a:endParaRPr>
          </a:p>
        </p:txBody>
      </p:sp>
      <p:grpSp>
        <p:nvGrpSpPr>
          <p:cNvPr id="173" name="Group 172"/>
          <p:cNvGrpSpPr/>
          <p:nvPr/>
        </p:nvGrpSpPr>
        <p:grpSpPr>
          <a:xfrm>
            <a:off x="8446705" y="3928700"/>
            <a:ext cx="285939" cy="199686"/>
            <a:chOff x="3488228" y="2647721"/>
            <a:chExt cx="285939" cy="199686"/>
          </a:xfrm>
        </p:grpSpPr>
        <p:sp>
          <p:nvSpPr>
            <p:cNvPr id="174" name="Oval 173"/>
            <p:cNvSpPr/>
            <p:nvPr/>
          </p:nvSpPr>
          <p:spPr>
            <a:xfrm>
              <a:off x="3541943" y="2647721"/>
              <a:ext cx="45720" cy="45720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/>
            <p:cNvSpPr/>
            <p:nvPr/>
          </p:nvSpPr>
          <p:spPr>
            <a:xfrm>
              <a:off x="3587663" y="2742091"/>
              <a:ext cx="84200" cy="84200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Oval 175"/>
            <p:cNvSpPr/>
            <p:nvPr/>
          </p:nvSpPr>
          <p:spPr>
            <a:xfrm>
              <a:off x="3681335" y="2652804"/>
              <a:ext cx="45720" cy="45720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Oval 176"/>
            <p:cNvSpPr/>
            <p:nvPr/>
          </p:nvSpPr>
          <p:spPr>
            <a:xfrm>
              <a:off x="3728447" y="2801687"/>
              <a:ext cx="45720" cy="45720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Oval 177"/>
            <p:cNvSpPr/>
            <p:nvPr/>
          </p:nvSpPr>
          <p:spPr>
            <a:xfrm>
              <a:off x="3488228" y="2726409"/>
              <a:ext cx="45720" cy="45720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5794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20</Words>
  <Application>Microsoft Office PowerPoint</Application>
  <PresentationFormat>On-screen Show (16:9)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Libre Baskerville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56</cp:revision>
  <dcterms:created xsi:type="dcterms:W3CDTF">2026-07-18T12:36:53Z</dcterms:created>
  <dcterms:modified xsi:type="dcterms:W3CDTF">2026-07-18T13:58:20Z</dcterms:modified>
</cp:coreProperties>
</file>