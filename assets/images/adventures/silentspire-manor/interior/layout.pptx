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492207"/>
    <a:srgbClr val="622E0A"/>
    <a:srgbClr val="ADB9CA"/>
    <a:srgbClr val="4C0000"/>
    <a:srgbClr val="7E0000"/>
    <a:srgbClr val="7F7F7F"/>
    <a:srgbClr val="7F6000"/>
    <a:srgbClr val="F8F8F8"/>
    <a:srgbClr val="6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400" d="100"/>
          <a:sy n="400" d="100"/>
        </p:scale>
        <p:origin x="384" y="-20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1F8C-44C0-4AB0-AC89-AD39347F46BF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4A68-A9DB-4CED-B1AA-A943206AF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306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1F8C-44C0-4AB0-AC89-AD39347F46BF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4A68-A9DB-4CED-B1AA-A943206AF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090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1F8C-44C0-4AB0-AC89-AD39347F46BF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4A68-A9DB-4CED-B1AA-A943206AF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576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1F8C-44C0-4AB0-AC89-AD39347F46BF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4A68-A9DB-4CED-B1AA-A943206AF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073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1F8C-44C0-4AB0-AC89-AD39347F46BF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4A68-A9DB-4CED-B1AA-A943206AF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075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1F8C-44C0-4AB0-AC89-AD39347F46BF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4A68-A9DB-4CED-B1AA-A943206AF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504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1F8C-44C0-4AB0-AC89-AD39347F46BF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4A68-A9DB-4CED-B1AA-A943206AF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468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1F8C-44C0-4AB0-AC89-AD39347F46BF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4A68-A9DB-4CED-B1AA-A943206AF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345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1F8C-44C0-4AB0-AC89-AD39347F46BF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4A68-A9DB-4CED-B1AA-A943206AF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450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1F8C-44C0-4AB0-AC89-AD39347F46BF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4A68-A9DB-4CED-B1AA-A943206AF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99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1F8C-44C0-4AB0-AC89-AD39347F46BF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4A68-A9DB-4CED-B1AA-A943206AF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749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771F8C-44C0-4AB0-AC89-AD39347F46BF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F54A68-A9DB-4CED-B1AA-A943206AF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547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0" name="Group 289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grpSp>
          <p:nvGrpSpPr>
            <p:cNvPr id="288" name="Group 287"/>
            <p:cNvGrpSpPr/>
            <p:nvPr/>
          </p:nvGrpSpPr>
          <p:grpSpPr>
            <a:xfrm>
              <a:off x="0" y="0"/>
              <a:ext cx="9144000" cy="5143500"/>
              <a:chOff x="0" y="0"/>
              <a:chExt cx="9144000" cy="5143500"/>
            </a:xfrm>
          </p:grpSpPr>
          <p:sp>
            <p:nvSpPr>
              <p:cNvPr id="6" name="Rectangle 5"/>
              <p:cNvSpPr/>
              <p:nvPr/>
            </p:nvSpPr>
            <p:spPr>
              <a:xfrm>
                <a:off x="0" y="0"/>
                <a:ext cx="9144000" cy="514350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7" name="Rectangle 286"/>
              <p:cNvSpPr/>
              <p:nvPr/>
            </p:nvSpPr>
            <p:spPr>
              <a:xfrm>
                <a:off x="209889" y="245553"/>
                <a:ext cx="8652116" cy="4660330"/>
              </a:xfrm>
              <a:prstGeom prst="rect">
                <a:avLst/>
              </a:prstGeom>
              <a:solidFill>
                <a:srgbClr val="622E0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289" name="Picture 28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4515" y="250077"/>
              <a:ext cx="8650151" cy="4653562"/>
            </a:xfrm>
            <a:prstGeom prst="rect">
              <a:avLst/>
            </a:prstGeom>
          </p:spPr>
        </p:pic>
      </p:grpSp>
      <p:sp>
        <p:nvSpPr>
          <p:cNvPr id="5" name="Rectangle 4"/>
          <p:cNvSpPr/>
          <p:nvPr/>
        </p:nvSpPr>
        <p:spPr>
          <a:xfrm>
            <a:off x="4110038" y="4904432"/>
            <a:ext cx="1283232" cy="239068"/>
          </a:xfrm>
          <a:prstGeom prst="rect">
            <a:avLst/>
          </a:prstGeom>
          <a:solidFill>
            <a:srgbClr val="4922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1200" smtClean="0">
                <a:solidFill>
                  <a:srgbClr val="622E0A"/>
                </a:solidFill>
                <a:latin typeface="Libre Baskerville" panose="02000000000000000000" pitchFamily="2" charset="0"/>
              </a:rPr>
              <a:t>Foyer</a:t>
            </a:r>
            <a:endParaRPr lang="en-US" sz="1200" dirty="0">
              <a:solidFill>
                <a:srgbClr val="622E0A"/>
              </a:solidFill>
              <a:latin typeface="Libre Baskerville" panose="02000000000000000000" pitchFamily="2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280196" y="2575312"/>
            <a:ext cx="807917" cy="376299"/>
          </a:xfrm>
          <a:prstGeom prst="rect">
            <a:avLst/>
          </a:prstGeom>
          <a:solidFill>
            <a:srgbClr val="4922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0" name="Group 19"/>
          <p:cNvGrpSpPr/>
          <p:nvPr/>
        </p:nvGrpSpPr>
        <p:grpSpPr>
          <a:xfrm>
            <a:off x="3349422" y="2662690"/>
            <a:ext cx="278261" cy="152925"/>
            <a:chOff x="3490632" y="2669890"/>
            <a:chExt cx="278261" cy="152925"/>
          </a:xfrm>
        </p:grpSpPr>
        <p:sp>
          <p:nvSpPr>
            <p:cNvPr id="13" name="Oval 12"/>
            <p:cNvSpPr/>
            <p:nvPr/>
          </p:nvSpPr>
          <p:spPr>
            <a:xfrm>
              <a:off x="3502310" y="2669890"/>
              <a:ext cx="45720" cy="45720"/>
            </a:xfrm>
            <a:prstGeom prst="ellipse">
              <a:avLst/>
            </a:prstGeom>
            <a:solidFill>
              <a:srgbClr val="FFC000"/>
            </a:solidFill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3586801" y="2696370"/>
              <a:ext cx="84200" cy="84200"/>
            </a:xfrm>
            <a:prstGeom prst="ellipse">
              <a:avLst/>
            </a:prstGeom>
            <a:solidFill>
              <a:srgbClr val="FFC000"/>
            </a:solidFill>
            <a:ln w="57150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3723173" y="2692750"/>
              <a:ext cx="45720" cy="45720"/>
            </a:xfrm>
            <a:prstGeom prst="ellipse">
              <a:avLst/>
            </a:prstGeom>
            <a:solidFill>
              <a:srgbClr val="FFC000"/>
            </a:solidFill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3711527" y="2777095"/>
              <a:ext cx="45720" cy="45720"/>
            </a:xfrm>
            <a:prstGeom prst="ellipse">
              <a:avLst/>
            </a:prstGeom>
            <a:solidFill>
              <a:srgbClr val="FFC000"/>
            </a:solidFill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3490632" y="2761331"/>
              <a:ext cx="45720" cy="45720"/>
            </a:xfrm>
            <a:prstGeom prst="ellipse">
              <a:avLst/>
            </a:prstGeom>
            <a:solidFill>
              <a:srgbClr val="FFC000"/>
            </a:solidFill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3779203" y="2693471"/>
            <a:ext cx="166907" cy="152847"/>
            <a:chOff x="3909725" y="2706151"/>
            <a:chExt cx="166907" cy="152847"/>
          </a:xfrm>
        </p:grpSpPr>
        <p:grpSp>
          <p:nvGrpSpPr>
            <p:cNvPr id="35" name="Group 34"/>
            <p:cNvGrpSpPr/>
            <p:nvPr/>
          </p:nvGrpSpPr>
          <p:grpSpPr>
            <a:xfrm>
              <a:off x="3909725" y="2706151"/>
              <a:ext cx="166907" cy="152847"/>
              <a:chOff x="3909725" y="2706151"/>
              <a:chExt cx="166907" cy="152847"/>
            </a:xfrm>
          </p:grpSpPr>
          <p:grpSp>
            <p:nvGrpSpPr>
              <p:cNvPr id="34" name="Group 33"/>
              <p:cNvGrpSpPr/>
              <p:nvPr/>
            </p:nvGrpSpPr>
            <p:grpSpPr>
              <a:xfrm>
                <a:off x="3909725" y="2706151"/>
                <a:ext cx="166907" cy="152847"/>
                <a:chOff x="3909725" y="2706151"/>
                <a:chExt cx="166907" cy="152847"/>
              </a:xfrm>
            </p:grpSpPr>
            <p:grpSp>
              <p:nvGrpSpPr>
                <p:cNvPr id="33" name="Group 32"/>
                <p:cNvGrpSpPr/>
                <p:nvPr/>
              </p:nvGrpSpPr>
              <p:grpSpPr>
                <a:xfrm>
                  <a:off x="3909725" y="2706151"/>
                  <a:ext cx="166907" cy="152847"/>
                  <a:chOff x="3909725" y="2706151"/>
                  <a:chExt cx="166907" cy="152847"/>
                </a:xfrm>
              </p:grpSpPr>
              <p:grpSp>
                <p:nvGrpSpPr>
                  <p:cNvPr id="32" name="Group 31"/>
                  <p:cNvGrpSpPr/>
                  <p:nvPr/>
                </p:nvGrpSpPr>
                <p:grpSpPr>
                  <a:xfrm>
                    <a:off x="3909725" y="2706151"/>
                    <a:ext cx="166907" cy="152847"/>
                    <a:chOff x="3909725" y="2706151"/>
                    <a:chExt cx="166907" cy="152847"/>
                  </a:xfrm>
                </p:grpSpPr>
                <p:sp>
                  <p:nvSpPr>
                    <p:cNvPr id="19" name="Wave 18"/>
                    <p:cNvSpPr/>
                    <p:nvPr/>
                  </p:nvSpPr>
                  <p:spPr>
                    <a:xfrm rot="5400000">
                      <a:off x="3916755" y="2699121"/>
                      <a:ext cx="152847" cy="166907"/>
                    </a:xfrm>
                    <a:prstGeom prst="wave">
                      <a:avLst>
                        <a:gd name="adj1" fmla="val 4573"/>
                        <a:gd name="adj2" fmla="val 0"/>
                      </a:avLst>
                    </a:prstGeom>
                    <a:solidFill>
                      <a:schemeClr val="accent4">
                        <a:lumMod val="20000"/>
                        <a:lumOff val="80000"/>
                      </a:schemeClr>
                    </a:solidFill>
                    <a:ln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cxnSp>
                  <p:nvCxnSpPr>
                    <p:cNvPr id="30" name="Straight Connector 29"/>
                    <p:cNvCxnSpPr/>
                    <p:nvPr/>
                  </p:nvCxnSpPr>
                  <p:spPr>
                    <a:xfrm>
                      <a:off x="3948477" y="2802765"/>
                      <a:ext cx="94166" cy="0"/>
                    </a:xfrm>
                    <a:prstGeom prst="line">
                      <a:avLst/>
                    </a:prstGeom>
                    <a:ln>
                      <a:solidFill>
                        <a:schemeClr val="tx2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1" name="Straight Connector 30"/>
                    <p:cNvCxnSpPr/>
                    <p:nvPr/>
                  </p:nvCxnSpPr>
                  <p:spPr>
                    <a:xfrm>
                      <a:off x="4022297" y="2834279"/>
                      <a:ext cx="36000" cy="0"/>
                    </a:xfrm>
                    <a:prstGeom prst="line">
                      <a:avLst/>
                    </a:prstGeom>
                    <a:ln>
                      <a:solidFill>
                        <a:schemeClr val="tx2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0" name="Straight Connector 39"/>
                    <p:cNvCxnSpPr/>
                    <p:nvPr/>
                  </p:nvCxnSpPr>
                  <p:spPr>
                    <a:xfrm>
                      <a:off x="3948477" y="2836216"/>
                      <a:ext cx="36000" cy="0"/>
                    </a:xfrm>
                    <a:prstGeom prst="line">
                      <a:avLst/>
                    </a:prstGeom>
                    <a:ln>
                      <a:solidFill>
                        <a:schemeClr val="tx2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29" name="Straight Connector 28"/>
                  <p:cNvCxnSpPr/>
                  <p:nvPr/>
                </p:nvCxnSpPr>
                <p:spPr>
                  <a:xfrm>
                    <a:off x="3948477" y="2785335"/>
                    <a:ext cx="94166" cy="0"/>
                  </a:xfrm>
                  <a:prstGeom prst="line">
                    <a:avLst/>
                  </a:prstGeom>
                  <a:ln>
                    <a:solidFill>
                      <a:schemeClr val="tx2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8" name="Straight Connector 27"/>
                <p:cNvCxnSpPr/>
                <p:nvPr/>
              </p:nvCxnSpPr>
              <p:spPr>
                <a:xfrm>
                  <a:off x="3951228" y="2769984"/>
                  <a:ext cx="94166" cy="0"/>
                </a:xfrm>
                <a:prstGeom prst="line">
                  <a:avLst/>
                </a:prstGeom>
                <a:ln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7" name="Straight Connector 26"/>
              <p:cNvCxnSpPr/>
              <p:nvPr/>
            </p:nvCxnSpPr>
            <p:spPr>
              <a:xfrm>
                <a:off x="3951228" y="2752554"/>
                <a:ext cx="94166" cy="0"/>
              </a:xfrm>
              <a:prstGeom prst="line">
                <a:avLst/>
              </a:prstGeom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3" name="Straight Connector 22"/>
            <p:cNvCxnSpPr/>
            <p:nvPr/>
          </p:nvCxnSpPr>
          <p:spPr>
            <a:xfrm>
              <a:off x="3951228" y="2738470"/>
              <a:ext cx="94166" cy="0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3951228" y="2721040"/>
              <a:ext cx="94166" cy="0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Oval 40"/>
          <p:cNvSpPr/>
          <p:nvPr/>
        </p:nvSpPr>
        <p:spPr>
          <a:xfrm>
            <a:off x="3984907" y="2707638"/>
            <a:ext cx="45719" cy="45719"/>
          </a:xfrm>
          <a:prstGeom prst="ellipse">
            <a:avLst/>
          </a:prstGeom>
          <a:solidFill>
            <a:schemeClr val="bg2">
              <a:lumMod val="10000"/>
            </a:schemeClr>
          </a:solidFill>
          <a:ln w="190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Arc 46"/>
          <p:cNvSpPr/>
          <p:nvPr/>
        </p:nvSpPr>
        <p:spPr>
          <a:xfrm rot="5400000">
            <a:off x="1117216" y="1760812"/>
            <a:ext cx="767470" cy="860231"/>
          </a:xfrm>
          <a:prstGeom prst="arc">
            <a:avLst/>
          </a:prstGeom>
          <a:ln w="28575">
            <a:solidFill>
              <a:srgbClr val="4922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Arc 50"/>
          <p:cNvSpPr/>
          <p:nvPr/>
        </p:nvSpPr>
        <p:spPr>
          <a:xfrm>
            <a:off x="209888" y="1429631"/>
            <a:ext cx="893339" cy="728991"/>
          </a:xfrm>
          <a:prstGeom prst="arc">
            <a:avLst/>
          </a:prstGeom>
          <a:ln w="28575">
            <a:solidFill>
              <a:srgbClr val="4922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4972318" y="2572652"/>
            <a:ext cx="1310397" cy="376299"/>
          </a:xfrm>
          <a:prstGeom prst="rect">
            <a:avLst/>
          </a:prstGeom>
          <a:solidFill>
            <a:srgbClr val="4922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 smtClean="0">
                <a:solidFill>
                  <a:srgbClr val="622E0A"/>
                </a:solidFill>
                <a:latin typeface="Libre Baskerville" panose="02000000000000000000" pitchFamily="2" charset="0"/>
              </a:rPr>
              <a:t>Bookcase</a:t>
            </a:r>
            <a:endParaRPr lang="en-US" dirty="0">
              <a:solidFill>
                <a:srgbClr val="622E0A"/>
              </a:solidFill>
              <a:latin typeface="Libre Baskerville" panose="02000000000000000000" pitchFamily="2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395895" y="911753"/>
            <a:ext cx="9442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200" dirty="0" smtClean="0">
                <a:solidFill>
                  <a:srgbClr val="492207"/>
                </a:solidFill>
                <a:latin typeface="Libre Baskerville" panose="02000000000000000000" pitchFamily="2" charset="0"/>
              </a:rPr>
              <a:t>Kitchen</a:t>
            </a:r>
            <a:endParaRPr lang="en-US" sz="1200" dirty="0">
              <a:solidFill>
                <a:srgbClr val="492207"/>
              </a:solidFill>
              <a:latin typeface="Libre Baskerville" panose="02000000000000000000" pitchFamily="2" charset="0"/>
            </a:endParaRPr>
          </a:p>
        </p:txBody>
      </p:sp>
      <p:grpSp>
        <p:nvGrpSpPr>
          <p:cNvPr id="123" name="Group 122"/>
          <p:cNvGrpSpPr/>
          <p:nvPr/>
        </p:nvGrpSpPr>
        <p:grpSpPr>
          <a:xfrm>
            <a:off x="206032" y="4131778"/>
            <a:ext cx="1304039" cy="773312"/>
            <a:chOff x="206032" y="4254500"/>
            <a:chExt cx="1323707" cy="644240"/>
          </a:xfrm>
        </p:grpSpPr>
        <p:grpSp>
          <p:nvGrpSpPr>
            <p:cNvPr id="58" name="Group 57"/>
            <p:cNvGrpSpPr/>
            <p:nvPr/>
          </p:nvGrpSpPr>
          <p:grpSpPr>
            <a:xfrm>
              <a:off x="206032" y="4254500"/>
              <a:ext cx="1323707" cy="644240"/>
              <a:chOff x="238393" y="4254500"/>
              <a:chExt cx="1323707" cy="644240"/>
            </a:xfrm>
          </p:grpSpPr>
          <p:sp>
            <p:nvSpPr>
              <p:cNvPr id="52" name="Rectangle 51"/>
              <p:cNvSpPr/>
              <p:nvPr/>
            </p:nvSpPr>
            <p:spPr>
              <a:xfrm>
                <a:off x="243972" y="4254500"/>
                <a:ext cx="1318128" cy="644240"/>
              </a:xfrm>
              <a:prstGeom prst="rect">
                <a:avLst/>
              </a:prstGeom>
              <a:solidFill>
                <a:srgbClr val="000000">
                  <a:alpha val="14902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Rectangle 52"/>
              <p:cNvSpPr/>
              <p:nvPr/>
            </p:nvSpPr>
            <p:spPr>
              <a:xfrm>
                <a:off x="243972" y="4254500"/>
                <a:ext cx="1207583" cy="644240"/>
              </a:xfrm>
              <a:prstGeom prst="rect">
                <a:avLst/>
              </a:prstGeom>
              <a:solidFill>
                <a:srgbClr val="000000">
                  <a:alpha val="14902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Rectangle 53"/>
              <p:cNvSpPr/>
              <p:nvPr/>
            </p:nvSpPr>
            <p:spPr>
              <a:xfrm>
                <a:off x="243972" y="4254500"/>
                <a:ext cx="1108578" cy="644240"/>
              </a:xfrm>
              <a:prstGeom prst="rect">
                <a:avLst/>
              </a:prstGeom>
              <a:solidFill>
                <a:srgbClr val="000000">
                  <a:alpha val="14902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Rectangle 54"/>
              <p:cNvSpPr/>
              <p:nvPr/>
            </p:nvSpPr>
            <p:spPr>
              <a:xfrm>
                <a:off x="252076" y="4254500"/>
                <a:ext cx="986174" cy="644240"/>
              </a:xfrm>
              <a:prstGeom prst="rect">
                <a:avLst/>
              </a:prstGeom>
              <a:solidFill>
                <a:srgbClr val="000000">
                  <a:alpha val="14902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Rectangle 55"/>
              <p:cNvSpPr/>
              <p:nvPr/>
            </p:nvSpPr>
            <p:spPr>
              <a:xfrm>
                <a:off x="240607" y="4254500"/>
                <a:ext cx="909030" cy="644240"/>
              </a:xfrm>
              <a:prstGeom prst="rect">
                <a:avLst/>
              </a:prstGeom>
              <a:solidFill>
                <a:srgbClr val="000000">
                  <a:alpha val="14902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Rectangle 56"/>
              <p:cNvSpPr/>
              <p:nvPr/>
            </p:nvSpPr>
            <p:spPr>
              <a:xfrm>
                <a:off x="248058" y="4254500"/>
                <a:ext cx="799692" cy="644240"/>
              </a:xfrm>
              <a:prstGeom prst="rect">
                <a:avLst/>
              </a:prstGeom>
              <a:solidFill>
                <a:srgbClr val="000000">
                  <a:alpha val="14902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Rectangle 58"/>
              <p:cNvSpPr/>
              <p:nvPr/>
            </p:nvSpPr>
            <p:spPr>
              <a:xfrm>
                <a:off x="238393" y="4254500"/>
                <a:ext cx="714107" cy="644240"/>
              </a:xfrm>
              <a:prstGeom prst="rect">
                <a:avLst/>
              </a:prstGeom>
              <a:solidFill>
                <a:srgbClr val="000000">
                  <a:alpha val="14902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22" name="TextBox 121"/>
            <p:cNvSpPr txBox="1"/>
            <p:nvPr/>
          </p:nvSpPr>
          <p:spPr>
            <a:xfrm>
              <a:off x="235250" y="4310828"/>
              <a:ext cx="1020142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dirty="0" smtClean="0">
                  <a:solidFill>
                    <a:srgbClr val="622E0A"/>
                  </a:solidFill>
                  <a:latin typeface="Libre Baskerville" panose="02000000000000000000" pitchFamily="2" charset="0"/>
                </a:rPr>
                <a:t>Wine Cellar</a:t>
              </a:r>
              <a:endParaRPr lang="en-US" dirty="0">
                <a:solidFill>
                  <a:srgbClr val="622E0A"/>
                </a:solidFill>
                <a:latin typeface="Libre Baskerville" panose="02000000000000000000" pitchFamily="2" charset="0"/>
              </a:endParaRPr>
            </a:p>
          </p:txBody>
        </p:sp>
      </p:grpSp>
      <p:sp>
        <p:nvSpPr>
          <p:cNvPr id="127" name="Rectangle 126"/>
          <p:cNvSpPr/>
          <p:nvPr/>
        </p:nvSpPr>
        <p:spPr>
          <a:xfrm>
            <a:off x="1956573" y="3344733"/>
            <a:ext cx="850256" cy="353257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 smtClean="0">
                <a:solidFill>
                  <a:schemeClr val="bg1">
                    <a:lumMod val="65000"/>
                  </a:schemeClr>
                </a:solidFill>
                <a:latin typeface="Libre Baskerville" panose="02000000000000000000" pitchFamily="2" charset="0"/>
              </a:rPr>
              <a:t>Hearth</a:t>
            </a:r>
            <a:endParaRPr lang="en-US" dirty="0">
              <a:solidFill>
                <a:schemeClr val="bg1">
                  <a:lumMod val="65000"/>
                </a:schemeClr>
              </a:solidFill>
              <a:latin typeface="Libre Baskerville" panose="02000000000000000000" pitchFamily="2" charset="0"/>
            </a:endParaRPr>
          </a:p>
        </p:txBody>
      </p:sp>
      <p:sp>
        <p:nvSpPr>
          <p:cNvPr id="130" name="Arc 129"/>
          <p:cNvSpPr/>
          <p:nvPr/>
        </p:nvSpPr>
        <p:spPr>
          <a:xfrm rot="10800000">
            <a:off x="5844500" y="1439794"/>
            <a:ext cx="861100" cy="726985"/>
          </a:xfrm>
          <a:prstGeom prst="arc">
            <a:avLst/>
          </a:prstGeom>
          <a:ln w="28575">
            <a:solidFill>
              <a:srgbClr val="4922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TextBox 130"/>
          <p:cNvSpPr txBox="1"/>
          <p:nvPr/>
        </p:nvSpPr>
        <p:spPr>
          <a:xfrm>
            <a:off x="4254128" y="1533316"/>
            <a:ext cx="944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200" dirty="0" smtClean="0">
                <a:solidFill>
                  <a:srgbClr val="492207"/>
                </a:solidFill>
                <a:latin typeface="Libre Baskerville" panose="02000000000000000000" pitchFamily="2" charset="0"/>
              </a:rPr>
              <a:t>Large Bedroom</a:t>
            </a:r>
            <a:endParaRPr lang="en-US" sz="1200" dirty="0">
              <a:solidFill>
                <a:srgbClr val="492207"/>
              </a:solidFill>
              <a:latin typeface="Libre Baskerville" panose="02000000000000000000" pitchFamily="2" charset="0"/>
            </a:endParaRPr>
          </a:p>
        </p:txBody>
      </p:sp>
      <p:grpSp>
        <p:nvGrpSpPr>
          <p:cNvPr id="60" name="Group 59"/>
          <p:cNvGrpSpPr/>
          <p:nvPr/>
        </p:nvGrpSpPr>
        <p:grpSpPr>
          <a:xfrm>
            <a:off x="5015145" y="268748"/>
            <a:ext cx="791983" cy="750490"/>
            <a:chOff x="4446420" y="349588"/>
            <a:chExt cx="1297188" cy="1229227"/>
          </a:xfrm>
        </p:grpSpPr>
        <p:grpSp>
          <p:nvGrpSpPr>
            <p:cNvPr id="134" name="Group 133"/>
            <p:cNvGrpSpPr/>
            <p:nvPr/>
          </p:nvGrpSpPr>
          <p:grpSpPr>
            <a:xfrm>
              <a:off x="4446420" y="349588"/>
              <a:ext cx="1297188" cy="1229227"/>
              <a:chOff x="4446420" y="349588"/>
              <a:chExt cx="1297188" cy="1229227"/>
            </a:xfrm>
          </p:grpSpPr>
          <p:sp>
            <p:nvSpPr>
              <p:cNvPr id="132" name="Rectangle 131"/>
              <p:cNvSpPr/>
              <p:nvPr/>
            </p:nvSpPr>
            <p:spPr>
              <a:xfrm>
                <a:off x="4446420" y="349588"/>
                <a:ext cx="1297188" cy="1229227"/>
              </a:xfrm>
              <a:prstGeom prst="rect">
                <a:avLst/>
              </a:prstGeom>
              <a:solidFill>
                <a:srgbClr val="49220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3" name="Rectangle 132"/>
              <p:cNvSpPr/>
              <p:nvPr/>
            </p:nvSpPr>
            <p:spPr>
              <a:xfrm>
                <a:off x="4488130" y="397914"/>
                <a:ext cx="1205532" cy="1125182"/>
              </a:xfrm>
              <a:prstGeom prst="rect">
                <a:avLst/>
              </a:prstGeom>
              <a:solidFill>
                <a:srgbClr val="7E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5" name="Rounded Rectangle 134"/>
            <p:cNvSpPr/>
            <p:nvPr/>
          </p:nvSpPr>
          <p:spPr>
            <a:xfrm>
              <a:off x="4547852" y="455883"/>
              <a:ext cx="517900" cy="309798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Rounded Rectangle 136"/>
            <p:cNvSpPr/>
            <p:nvPr/>
          </p:nvSpPr>
          <p:spPr>
            <a:xfrm>
              <a:off x="5124686" y="455883"/>
              <a:ext cx="517900" cy="309798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Rectangle 137"/>
            <p:cNvSpPr/>
            <p:nvPr/>
          </p:nvSpPr>
          <p:spPr>
            <a:xfrm>
              <a:off x="4488130" y="806717"/>
              <a:ext cx="1205532" cy="71637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9" name="Rectangle 138"/>
          <p:cNvSpPr/>
          <p:nvPr/>
        </p:nvSpPr>
        <p:spPr>
          <a:xfrm rot="16200000">
            <a:off x="2919732" y="1779975"/>
            <a:ext cx="1107173" cy="376299"/>
          </a:xfrm>
          <a:prstGeom prst="rect">
            <a:avLst/>
          </a:prstGeom>
          <a:solidFill>
            <a:srgbClr val="4922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 smtClean="0">
                <a:solidFill>
                  <a:srgbClr val="622E0A"/>
                </a:solidFill>
                <a:latin typeface="Libre Baskerville" panose="02000000000000000000" pitchFamily="2" charset="0"/>
              </a:rPr>
              <a:t>Wardrobe</a:t>
            </a:r>
            <a:endParaRPr lang="en-US" dirty="0">
              <a:solidFill>
                <a:srgbClr val="622E0A"/>
              </a:solidFill>
              <a:latin typeface="Libre Baskerville" panose="02000000000000000000" pitchFamily="2" charset="0"/>
            </a:endParaRPr>
          </a:p>
        </p:txBody>
      </p:sp>
      <p:sp>
        <p:nvSpPr>
          <p:cNvPr id="140" name="Rectangle 139"/>
          <p:cNvSpPr/>
          <p:nvPr/>
        </p:nvSpPr>
        <p:spPr>
          <a:xfrm rot="16200000">
            <a:off x="3102062" y="442218"/>
            <a:ext cx="739842" cy="382798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1200" dirty="0" smtClean="0">
                <a:solidFill>
                  <a:schemeClr val="bg1">
                    <a:lumMod val="65000"/>
                  </a:schemeClr>
                </a:solidFill>
                <a:latin typeface="Libre Baskerville" panose="02000000000000000000" pitchFamily="2" charset="0"/>
              </a:rPr>
              <a:t>Hearth</a:t>
            </a:r>
            <a:endParaRPr lang="en-US" sz="1200" dirty="0">
              <a:solidFill>
                <a:schemeClr val="bg1">
                  <a:lumMod val="65000"/>
                </a:schemeClr>
              </a:solidFill>
              <a:latin typeface="Libre Baskerville" panose="02000000000000000000" pitchFamily="2" charset="0"/>
            </a:endParaRPr>
          </a:p>
        </p:txBody>
      </p:sp>
      <p:grpSp>
        <p:nvGrpSpPr>
          <p:cNvPr id="146" name="Group 145"/>
          <p:cNvGrpSpPr/>
          <p:nvPr/>
        </p:nvGrpSpPr>
        <p:grpSpPr>
          <a:xfrm>
            <a:off x="1255595" y="679876"/>
            <a:ext cx="229766" cy="717513"/>
            <a:chOff x="2873773" y="858073"/>
            <a:chExt cx="367513" cy="2710004"/>
          </a:xfrm>
        </p:grpSpPr>
        <p:sp>
          <p:nvSpPr>
            <p:cNvPr id="126" name="Rectangle 125"/>
            <p:cNvSpPr/>
            <p:nvPr/>
          </p:nvSpPr>
          <p:spPr>
            <a:xfrm>
              <a:off x="2873773" y="858073"/>
              <a:ext cx="361311" cy="2710004"/>
            </a:xfrm>
            <a:prstGeom prst="rect">
              <a:avLst/>
            </a:prstGeom>
            <a:solidFill>
              <a:srgbClr val="4922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1" name="Rectangle 140"/>
            <p:cNvSpPr/>
            <p:nvPr/>
          </p:nvSpPr>
          <p:spPr>
            <a:xfrm>
              <a:off x="3096246" y="858073"/>
              <a:ext cx="145040" cy="2710004"/>
            </a:xfrm>
            <a:prstGeom prst="rect">
              <a:avLst/>
            </a:prstGeom>
            <a:solidFill>
              <a:srgbClr val="000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4" name="Arc 143"/>
          <p:cNvSpPr/>
          <p:nvPr/>
        </p:nvSpPr>
        <p:spPr>
          <a:xfrm rot="5400000">
            <a:off x="6770284" y="3701762"/>
            <a:ext cx="751283" cy="828264"/>
          </a:xfrm>
          <a:prstGeom prst="arc">
            <a:avLst/>
          </a:prstGeom>
          <a:ln w="28575">
            <a:solidFill>
              <a:srgbClr val="4922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9" name="Group 148"/>
          <p:cNvGrpSpPr/>
          <p:nvPr/>
        </p:nvGrpSpPr>
        <p:grpSpPr>
          <a:xfrm>
            <a:off x="1150998" y="314274"/>
            <a:ext cx="281090" cy="281090"/>
            <a:chOff x="2836912" y="3174001"/>
            <a:chExt cx="377756" cy="377756"/>
          </a:xfrm>
        </p:grpSpPr>
        <p:sp>
          <p:nvSpPr>
            <p:cNvPr id="147" name="Oval 146"/>
            <p:cNvSpPr/>
            <p:nvPr/>
          </p:nvSpPr>
          <p:spPr>
            <a:xfrm>
              <a:off x="2836912" y="3174001"/>
              <a:ext cx="377756" cy="377756"/>
            </a:xfrm>
            <a:prstGeom prst="ellipse">
              <a:avLst/>
            </a:prstGeom>
            <a:solidFill>
              <a:srgbClr val="492207"/>
            </a:solidFill>
            <a:ln w="57150">
              <a:solidFill>
                <a:srgbClr val="000000">
                  <a:alpha val="30196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8" name="Oval 147"/>
            <p:cNvSpPr/>
            <p:nvPr/>
          </p:nvSpPr>
          <p:spPr>
            <a:xfrm>
              <a:off x="2924781" y="3280114"/>
              <a:ext cx="45720" cy="45720"/>
            </a:xfrm>
            <a:prstGeom prst="ellipse">
              <a:avLst/>
            </a:prstGeom>
            <a:solidFill>
              <a:srgbClr val="000000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50" name="Rectangle 149"/>
          <p:cNvSpPr/>
          <p:nvPr/>
        </p:nvSpPr>
        <p:spPr>
          <a:xfrm>
            <a:off x="7540308" y="263645"/>
            <a:ext cx="1310397" cy="376299"/>
          </a:xfrm>
          <a:prstGeom prst="rect">
            <a:avLst/>
          </a:prstGeom>
          <a:solidFill>
            <a:srgbClr val="4922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 smtClean="0">
                <a:solidFill>
                  <a:srgbClr val="622E0A"/>
                </a:solidFill>
                <a:latin typeface="Libre Baskerville" panose="02000000000000000000" pitchFamily="2" charset="0"/>
              </a:rPr>
              <a:t>Bookcase</a:t>
            </a:r>
            <a:endParaRPr lang="en-US" dirty="0">
              <a:solidFill>
                <a:srgbClr val="622E0A"/>
              </a:solidFill>
              <a:latin typeface="Libre Baskerville" panose="02000000000000000000" pitchFamily="2" charset="0"/>
            </a:endParaRPr>
          </a:p>
        </p:txBody>
      </p:sp>
      <p:sp>
        <p:nvSpPr>
          <p:cNvPr id="151" name="Rectangle 150"/>
          <p:cNvSpPr/>
          <p:nvPr/>
        </p:nvSpPr>
        <p:spPr>
          <a:xfrm>
            <a:off x="7551608" y="1036028"/>
            <a:ext cx="1310397" cy="376299"/>
          </a:xfrm>
          <a:prstGeom prst="rect">
            <a:avLst/>
          </a:prstGeom>
          <a:solidFill>
            <a:srgbClr val="4922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 smtClean="0">
                <a:solidFill>
                  <a:srgbClr val="622E0A"/>
                </a:solidFill>
                <a:latin typeface="Libre Baskerville" panose="02000000000000000000" pitchFamily="2" charset="0"/>
              </a:rPr>
              <a:t>Bookcase</a:t>
            </a:r>
            <a:endParaRPr lang="en-US" dirty="0">
              <a:solidFill>
                <a:srgbClr val="622E0A"/>
              </a:solidFill>
              <a:latin typeface="Libre Baskerville" panose="02000000000000000000" pitchFamily="2" charset="0"/>
            </a:endParaRPr>
          </a:p>
        </p:txBody>
      </p:sp>
      <p:sp>
        <p:nvSpPr>
          <p:cNvPr id="152" name="Rectangle 151"/>
          <p:cNvSpPr/>
          <p:nvPr/>
        </p:nvSpPr>
        <p:spPr>
          <a:xfrm>
            <a:off x="7540309" y="1804648"/>
            <a:ext cx="1310397" cy="376299"/>
          </a:xfrm>
          <a:prstGeom prst="rect">
            <a:avLst/>
          </a:prstGeom>
          <a:solidFill>
            <a:srgbClr val="4922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 smtClean="0">
                <a:solidFill>
                  <a:srgbClr val="622E0A"/>
                </a:solidFill>
                <a:latin typeface="Libre Baskerville" panose="02000000000000000000" pitchFamily="2" charset="0"/>
              </a:rPr>
              <a:t>Bookcase</a:t>
            </a:r>
            <a:endParaRPr lang="en-US" dirty="0">
              <a:solidFill>
                <a:srgbClr val="622E0A"/>
              </a:solidFill>
              <a:latin typeface="Libre Baskerville" panose="02000000000000000000" pitchFamily="2" charset="0"/>
            </a:endParaRPr>
          </a:p>
        </p:txBody>
      </p:sp>
      <p:sp>
        <p:nvSpPr>
          <p:cNvPr id="153" name="Rectangle 152"/>
          <p:cNvSpPr/>
          <p:nvPr/>
        </p:nvSpPr>
        <p:spPr>
          <a:xfrm>
            <a:off x="7540309" y="2576492"/>
            <a:ext cx="1310397" cy="376299"/>
          </a:xfrm>
          <a:prstGeom prst="rect">
            <a:avLst/>
          </a:prstGeom>
          <a:solidFill>
            <a:srgbClr val="4922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 smtClean="0">
                <a:solidFill>
                  <a:srgbClr val="622E0A"/>
                </a:solidFill>
                <a:latin typeface="Libre Baskerville" panose="02000000000000000000" pitchFamily="2" charset="0"/>
              </a:rPr>
              <a:t>Bookcase</a:t>
            </a:r>
            <a:endParaRPr lang="en-US" dirty="0">
              <a:solidFill>
                <a:srgbClr val="622E0A"/>
              </a:solidFill>
              <a:latin typeface="Libre Baskerville" panose="02000000000000000000" pitchFamily="2" charset="0"/>
            </a:endParaRPr>
          </a:p>
        </p:txBody>
      </p:sp>
      <p:sp>
        <p:nvSpPr>
          <p:cNvPr id="154" name="Rectangle 153"/>
          <p:cNvSpPr/>
          <p:nvPr/>
        </p:nvSpPr>
        <p:spPr>
          <a:xfrm>
            <a:off x="7542734" y="3351755"/>
            <a:ext cx="1310397" cy="376299"/>
          </a:xfrm>
          <a:prstGeom prst="rect">
            <a:avLst/>
          </a:prstGeom>
          <a:solidFill>
            <a:srgbClr val="4922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 smtClean="0">
                <a:solidFill>
                  <a:srgbClr val="622E0A"/>
                </a:solidFill>
                <a:latin typeface="Libre Baskerville" panose="02000000000000000000" pitchFamily="2" charset="0"/>
              </a:rPr>
              <a:t>Bookcase</a:t>
            </a:r>
            <a:endParaRPr lang="en-US" dirty="0">
              <a:solidFill>
                <a:srgbClr val="622E0A"/>
              </a:solidFill>
              <a:latin typeface="Libre Baskerville" panose="02000000000000000000" pitchFamily="2" charset="0"/>
            </a:endParaRPr>
          </a:p>
        </p:txBody>
      </p:sp>
      <p:sp>
        <p:nvSpPr>
          <p:cNvPr id="156" name="Rectangle 155"/>
          <p:cNvSpPr/>
          <p:nvPr/>
        </p:nvSpPr>
        <p:spPr>
          <a:xfrm>
            <a:off x="8433661" y="3920073"/>
            <a:ext cx="404620" cy="959122"/>
          </a:xfrm>
          <a:prstGeom prst="rect">
            <a:avLst/>
          </a:prstGeom>
          <a:solidFill>
            <a:srgbClr val="4922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7" name="Group 156"/>
          <p:cNvGrpSpPr/>
          <p:nvPr/>
        </p:nvGrpSpPr>
        <p:grpSpPr>
          <a:xfrm rot="5400000">
            <a:off x="8524977" y="4474615"/>
            <a:ext cx="166907" cy="152847"/>
            <a:chOff x="3909725" y="2706151"/>
            <a:chExt cx="166907" cy="152847"/>
          </a:xfrm>
        </p:grpSpPr>
        <p:grpSp>
          <p:nvGrpSpPr>
            <p:cNvPr id="158" name="Group 157"/>
            <p:cNvGrpSpPr/>
            <p:nvPr/>
          </p:nvGrpSpPr>
          <p:grpSpPr>
            <a:xfrm>
              <a:off x="3909725" y="2706151"/>
              <a:ext cx="166907" cy="152847"/>
              <a:chOff x="3909725" y="2706151"/>
              <a:chExt cx="166907" cy="152847"/>
            </a:xfrm>
          </p:grpSpPr>
          <p:grpSp>
            <p:nvGrpSpPr>
              <p:cNvPr id="161" name="Group 160"/>
              <p:cNvGrpSpPr/>
              <p:nvPr/>
            </p:nvGrpSpPr>
            <p:grpSpPr>
              <a:xfrm>
                <a:off x="3909725" y="2706151"/>
                <a:ext cx="166907" cy="152847"/>
                <a:chOff x="3909725" y="2706151"/>
                <a:chExt cx="166907" cy="152847"/>
              </a:xfrm>
            </p:grpSpPr>
            <p:grpSp>
              <p:nvGrpSpPr>
                <p:cNvPr id="163" name="Group 162"/>
                <p:cNvGrpSpPr/>
                <p:nvPr/>
              </p:nvGrpSpPr>
              <p:grpSpPr>
                <a:xfrm>
                  <a:off x="3909725" y="2706151"/>
                  <a:ext cx="166907" cy="152847"/>
                  <a:chOff x="3909725" y="2706151"/>
                  <a:chExt cx="166907" cy="152847"/>
                </a:xfrm>
              </p:grpSpPr>
              <p:grpSp>
                <p:nvGrpSpPr>
                  <p:cNvPr id="165" name="Group 164"/>
                  <p:cNvGrpSpPr/>
                  <p:nvPr/>
                </p:nvGrpSpPr>
                <p:grpSpPr>
                  <a:xfrm>
                    <a:off x="3909725" y="2706151"/>
                    <a:ext cx="166907" cy="152847"/>
                    <a:chOff x="3909725" y="2706151"/>
                    <a:chExt cx="166907" cy="152847"/>
                  </a:xfrm>
                </p:grpSpPr>
                <p:sp>
                  <p:nvSpPr>
                    <p:cNvPr id="167" name="Wave 166"/>
                    <p:cNvSpPr/>
                    <p:nvPr/>
                  </p:nvSpPr>
                  <p:spPr>
                    <a:xfrm rot="5400000">
                      <a:off x="3916755" y="2699121"/>
                      <a:ext cx="152847" cy="166907"/>
                    </a:xfrm>
                    <a:prstGeom prst="wave">
                      <a:avLst>
                        <a:gd name="adj1" fmla="val 4573"/>
                        <a:gd name="adj2" fmla="val 0"/>
                      </a:avLst>
                    </a:prstGeom>
                    <a:solidFill>
                      <a:schemeClr val="accent4">
                        <a:lumMod val="20000"/>
                        <a:lumOff val="80000"/>
                      </a:schemeClr>
                    </a:solidFill>
                    <a:ln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cxnSp>
                  <p:nvCxnSpPr>
                    <p:cNvPr id="168" name="Straight Connector 167"/>
                    <p:cNvCxnSpPr/>
                    <p:nvPr/>
                  </p:nvCxnSpPr>
                  <p:spPr>
                    <a:xfrm>
                      <a:off x="3948477" y="2802765"/>
                      <a:ext cx="94166" cy="0"/>
                    </a:xfrm>
                    <a:prstGeom prst="line">
                      <a:avLst/>
                    </a:prstGeom>
                    <a:ln>
                      <a:solidFill>
                        <a:schemeClr val="tx2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9" name="Straight Connector 168"/>
                    <p:cNvCxnSpPr/>
                    <p:nvPr/>
                  </p:nvCxnSpPr>
                  <p:spPr>
                    <a:xfrm>
                      <a:off x="4022297" y="2834279"/>
                      <a:ext cx="36000" cy="0"/>
                    </a:xfrm>
                    <a:prstGeom prst="line">
                      <a:avLst/>
                    </a:prstGeom>
                    <a:ln>
                      <a:solidFill>
                        <a:schemeClr val="tx2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0" name="Straight Connector 169"/>
                    <p:cNvCxnSpPr/>
                    <p:nvPr/>
                  </p:nvCxnSpPr>
                  <p:spPr>
                    <a:xfrm>
                      <a:off x="3948477" y="2836216"/>
                      <a:ext cx="36000" cy="0"/>
                    </a:xfrm>
                    <a:prstGeom prst="line">
                      <a:avLst/>
                    </a:prstGeom>
                    <a:ln>
                      <a:solidFill>
                        <a:schemeClr val="tx2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166" name="Straight Connector 165"/>
                  <p:cNvCxnSpPr/>
                  <p:nvPr/>
                </p:nvCxnSpPr>
                <p:spPr>
                  <a:xfrm>
                    <a:off x="3948477" y="2785335"/>
                    <a:ext cx="94166" cy="0"/>
                  </a:xfrm>
                  <a:prstGeom prst="line">
                    <a:avLst/>
                  </a:prstGeom>
                  <a:ln>
                    <a:solidFill>
                      <a:schemeClr val="tx2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64" name="Straight Connector 163"/>
                <p:cNvCxnSpPr/>
                <p:nvPr/>
              </p:nvCxnSpPr>
              <p:spPr>
                <a:xfrm>
                  <a:off x="3951228" y="2769984"/>
                  <a:ext cx="94166" cy="0"/>
                </a:xfrm>
                <a:prstGeom prst="line">
                  <a:avLst/>
                </a:prstGeom>
                <a:ln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62" name="Straight Connector 161"/>
              <p:cNvCxnSpPr/>
              <p:nvPr/>
            </p:nvCxnSpPr>
            <p:spPr>
              <a:xfrm>
                <a:off x="3951228" y="2752554"/>
                <a:ext cx="94166" cy="0"/>
              </a:xfrm>
              <a:prstGeom prst="line">
                <a:avLst/>
              </a:prstGeom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9" name="Straight Connector 158"/>
            <p:cNvCxnSpPr/>
            <p:nvPr/>
          </p:nvCxnSpPr>
          <p:spPr>
            <a:xfrm>
              <a:off x="3951228" y="2738470"/>
              <a:ext cx="94166" cy="0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/>
            <p:cNvCxnSpPr/>
            <p:nvPr/>
          </p:nvCxnSpPr>
          <p:spPr>
            <a:xfrm>
              <a:off x="3951228" y="2721040"/>
              <a:ext cx="94166" cy="0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1" name="Oval 170"/>
          <p:cNvSpPr/>
          <p:nvPr/>
        </p:nvSpPr>
        <p:spPr>
          <a:xfrm>
            <a:off x="8676525" y="4687053"/>
            <a:ext cx="45719" cy="45719"/>
          </a:xfrm>
          <a:prstGeom prst="ellipse">
            <a:avLst/>
          </a:prstGeom>
          <a:solidFill>
            <a:schemeClr val="bg2">
              <a:lumMod val="10000"/>
            </a:schemeClr>
          </a:solidFill>
          <a:ln w="190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TextBox 171"/>
          <p:cNvSpPr txBox="1"/>
          <p:nvPr/>
        </p:nvSpPr>
        <p:spPr>
          <a:xfrm>
            <a:off x="7380376" y="4591029"/>
            <a:ext cx="9442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200" dirty="0" smtClean="0">
                <a:solidFill>
                  <a:srgbClr val="492207"/>
                </a:solidFill>
                <a:latin typeface="Libre Baskerville" panose="02000000000000000000" pitchFamily="2" charset="0"/>
              </a:rPr>
              <a:t>Library</a:t>
            </a:r>
            <a:endParaRPr lang="en-US" sz="1200" dirty="0">
              <a:solidFill>
                <a:srgbClr val="492207"/>
              </a:solidFill>
              <a:latin typeface="Libre Baskerville" panose="02000000000000000000" pitchFamily="2" charset="0"/>
            </a:endParaRPr>
          </a:p>
        </p:txBody>
      </p:sp>
      <p:grpSp>
        <p:nvGrpSpPr>
          <p:cNvPr id="173" name="Group 172"/>
          <p:cNvGrpSpPr/>
          <p:nvPr/>
        </p:nvGrpSpPr>
        <p:grpSpPr>
          <a:xfrm>
            <a:off x="8478727" y="3979950"/>
            <a:ext cx="285939" cy="199686"/>
            <a:chOff x="3488228" y="2647721"/>
            <a:chExt cx="285939" cy="199686"/>
          </a:xfrm>
        </p:grpSpPr>
        <p:sp>
          <p:nvSpPr>
            <p:cNvPr id="174" name="Oval 173"/>
            <p:cNvSpPr/>
            <p:nvPr/>
          </p:nvSpPr>
          <p:spPr>
            <a:xfrm>
              <a:off x="3541943" y="2647721"/>
              <a:ext cx="45720" cy="45720"/>
            </a:xfrm>
            <a:prstGeom prst="ellipse">
              <a:avLst/>
            </a:prstGeom>
            <a:solidFill>
              <a:srgbClr val="FFC000"/>
            </a:solidFill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Oval 174"/>
            <p:cNvSpPr/>
            <p:nvPr/>
          </p:nvSpPr>
          <p:spPr>
            <a:xfrm>
              <a:off x="3587663" y="2742091"/>
              <a:ext cx="84200" cy="84200"/>
            </a:xfrm>
            <a:prstGeom prst="ellipse">
              <a:avLst/>
            </a:prstGeom>
            <a:solidFill>
              <a:srgbClr val="FFC000"/>
            </a:solidFill>
            <a:ln w="57150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Oval 175"/>
            <p:cNvSpPr/>
            <p:nvPr/>
          </p:nvSpPr>
          <p:spPr>
            <a:xfrm>
              <a:off x="3681335" y="2652804"/>
              <a:ext cx="45720" cy="45720"/>
            </a:xfrm>
            <a:prstGeom prst="ellipse">
              <a:avLst/>
            </a:prstGeom>
            <a:solidFill>
              <a:srgbClr val="FFC000"/>
            </a:solidFill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Oval 176"/>
            <p:cNvSpPr/>
            <p:nvPr/>
          </p:nvSpPr>
          <p:spPr>
            <a:xfrm>
              <a:off x="3728447" y="2801687"/>
              <a:ext cx="45720" cy="45720"/>
            </a:xfrm>
            <a:prstGeom prst="ellipse">
              <a:avLst/>
            </a:prstGeom>
            <a:solidFill>
              <a:srgbClr val="FFC000"/>
            </a:solidFill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Oval 177"/>
            <p:cNvSpPr/>
            <p:nvPr/>
          </p:nvSpPr>
          <p:spPr>
            <a:xfrm>
              <a:off x="3488228" y="2726409"/>
              <a:ext cx="45720" cy="45720"/>
            </a:xfrm>
            <a:prstGeom prst="ellipse">
              <a:avLst/>
            </a:prstGeom>
            <a:solidFill>
              <a:srgbClr val="FFC000"/>
            </a:solidFill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4" name="Group 183"/>
          <p:cNvGrpSpPr/>
          <p:nvPr/>
        </p:nvGrpSpPr>
        <p:grpSpPr>
          <a:xfrm rot="5400000">
            <a:off x="6181938" y="322546"/>
            <a:ext cx="1051176" cy="891585"/>
            <a:chOff x="206032" y="4254498"/>
            <a:chExt cx="1323707" cy="644242"/>
          </a:xfrm>
        </p:grpSpPr>
        <p:grpSp>
          <p:nvGrpSpPr>
            <p:cNvPr id="185" name="Group 184"/>
            <p:cNvGrpSpPr/>
            <p:nvPr/>
          </p:nvGrpSpPr>
          <p:grpSpPr>
            <a:xfrm>
              <a:off x="206032" y="4254498"/>
              <a:ext cx="1323707" cy="644242"/>
              <a:chOff x="238393" y="4254498"/>
              <a:chExt cx="1323707" cy="644242"/>
            </a:xfrm>
          </p:grpSpPr>
          <p:sp>
            <p:nvSpPr>
              <p:cNvPr id="187" name="Rectangle 186"/>
              <p:cNvSpPr/>
              <p:nvPr/>
            </p:nvSpPr>
            <p:spPr>
              <a:xfrm>
                <a:off x="243972" y="4254500"/>
                <a:ext cx="1318128" cy="644240"/>
              </a:xfrm>
              <a:prstGeom prst="rect">
                <a:avLst/>
              </a:prstGeom>
              <a:solidFill>
                <a:srgbClr val="000000">
                  <a:alpha val="14902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8" name="Rectangle 187"/>
              <p:cNvSpPr/>
              <p:nvPr/>
            </p:nvSpPr>
            <p:spPr>
              <a:xfrm>
                <a:off x="243972" y="4254500"/>
                <a:ext cx="1207583" cy="644240"/>
              </a:xfrm>
              <a:prstGeom prst="rect">
                <a:avLst/>
              </a:prstGeom>
              <a:solidFill>
                <a:srgbClr val="000000">
                  <a:alpha val="14902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9" name="Rectangle 188"/>
              <p:cNvSpPr/>
              <p:nvPr/>
            </p:nvSpPr>
            <p:spPr>
              <a:xfrm>
                <a:off x="243972" y="4254500"/>
                <a:ext cx="1108578" cy="644240"/>
              </a:xfrm>
              <a:prstGeom prst="rect">
                <a:avLst/>
              </a:prstGeom>
              <a:solidFill>
                <a:srgbClr val="000000">
                  <a:alpha val="14902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0" name="Rectangle 189"/>
              <p:cNvSpPr/>
              <p:nvPr/>
            </p:nvSpPr>
            <p:spPr>
              <a:xfrm>
                <a:off x="252076" y="4254500"/>
                <a:ext cx="986174" cy="644240"/>
              </a:xfrm>
              <a:prstGeom prst="rect">
                <a:avLst/>
              </a:prstGeom>
              <a:solidFill>
                <a:srgbClr val="000000">
                  <a:alpha val="14902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1" name="Rectangle 190"/>
              <p:cNvSpPr/>
              <p:nvPr/>
            </p:nvSpPr>
            <p:spPr>
              <a:xfrm>
                <a:off x="240608" y="4254498"/>
                <a:ext cx="909030" cy="644240"/>
              </a:xfrm>
              <a:prstGeom prst="rect">
                <a:avLst/>
              </a:prstGeom>
              <a:solidFill>
                <a:srgbClr val="000000">
                  <a:alpha val="14902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2" name="Rectangle 191"/>
              <p:cNvSpPr/>
              <p:nvPr/>
            </p:nvSpPr>
            <p:spPr>
              <a:xfrm>
                <a:off x="248058" y="4254500"/>
                <a:ext cx="799692" cy="644240"/>
              </a:xfrm>
              <a:prstGeom prst="rect">
                <a:avLst/>
              </a:prstGeom>
              <a:solidFill>
                <a:srgbClr val="000000">
                  <a:alpha val="14902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3" name="Rectangle 192"/>
              <p:cNvSpPr/>
              <p:nvPr/>
            </p:nvSpPr>
            <p:spPr>
              <a:xfrm>
                <a:off x="238393" y="4254500"/>
                <a:ext cx="714107" cy="644240"/>
              </a:xfrm>
              <a:prstGeom prst="rect">
                <a:avLst/>
              </a:prstGeom>
              <a:solidFill>
                <a:srgbClr val="000000">
                  <a:alpha val="14902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86" name="TextBox 185"/>
            <p:cNvSpPr txBox="1"/>
            <p:nvPr/>
          </p:nvSpPr>
          <p:spPr>
            <a:xfrm rot="16200000">
              <a:off x="293841" y="4297485"/>
              <a:ext cx="537884" cy="523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sz="1000" dirty="0" smtClean="0">
                  <a:solidFill>
                    <a:srgbClr val="622E0A"/>
                  </a:solidFill>
                  <a:latin typeface="Libre Baskerville" panose="02000000000000000000" pitchFamily="2" charset="0"/>
                </a:rPr>
                <a:t>Second Floor</a:t>
              </a:r>
              <a:endParaRPr lang="en-US" sz="1000" dirty="0">
                <a:solidFill>
                  <a:srgbClr val="622E0A"/>
                </a:solidFill>
                <a:latin typeface="Libre Baskerville" panose="02000000000000000000" pitchFamily="2" charset="0"/>
              </a:endParaRPr>
            </a:p>
          </p:txBody>
        </p:sp>
      </p:grpSp>
      <p:sp>
        <p:nvSpPr>
          <p:cNvPr id="180" name="Rectangle 179"/>
          <p:cNvSpPr/>
          <p:nvPr/>
        </p:nvSpPr>
        <p:spPr>
          <a:xfrm>
            <a:off x="234348" y="268748"/>
            <a:ext cx="836488" cy="369814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 smtClean="0">
                <a:solidFill>
                  <a:schemeClr val="bg1">
                    <a:lumMod val="65000"/>
                  </a:schemeClr>
                </a:solidFill>
                <a:latin typeface="Libre Baskerville" panose="02000000000000000000" pitchFamily="2" charset="0"/>
              </a:rPr>
              <a:t>Hearth</a:t>
            </a:r>
            <a:endParaRPr lang="en-US" dirty="0">
              <a:solidFill>
                <a:schemeClr val="bg1">
                  <a:lumMod val="65000"/>
                </a:schemeClr>
              </a:solidFill>
              <a:latin typeface="Libre Baskerville" panose="02000000000000000000" pitchFamily="2" charset="0"/>
            </a:endParaRPr>
          </a:p>
        </p:txBody>
      </p:sp>
      <p:grpSp>
        <p:nvGrpSpPr>
          <p:cNvPr id="391" name="Group 390"/>
          <p:cNvGrpSpPr/>
          <p:nvPr/>
        </p:nvGrpSpPr>
        <p:grpSpPr>
          <a:xfrm>
            <a:off x="1504412" y="327573"/>
            <a:ext cx="1310540" cy="323038"/>
            <a:chOff x="1600145" y="344364"/>
            <a:chExt cx="1310540" cy="323038"/>
          </a:xfrm>
        </p:grpSpPr>
        <p:sp>
          <p:nvSpPr>
            <p:cNvPr id="182" name="Rectangle 181"/>
            <p:cNvSpPr/>
            <p:nvPr/>
          </p:nvSpPr>
          <p:spPr>
            <a:xfrm flipH="1">
              <a:off x="2861180" y="344364"/>
              <a:ext cx="49402" cy="100860"/>
            </a:xfrm>
            <a:prstGeom prst="rect">
              <a:avLst/>
            </a:prstGeom>
            <a:solidFill>
              <a:srgbClr val="4922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1600145" y="435595"/>
              <a:ext cx="1310540" cy="231807"/>
              <a:chOff x="1600145" y="435595"/>
              <a:chExt cx="1310540" cy="231807"/>
            </a:xfrm>
          </p:grpSpPr>
          <p:sp>
            <p:nvSpPr>
              <p:cNvPr id="181" name="Rectangle 180"/>
              <p:cNvSpPr/>
              <p:nvPr/>
            </p:nvSpPr>
            <p:spPr>
              <a:xfrm>
                <a:off x="1600288" y="435595"/>
                <a:ext cx="1310397" cy="231807"/>
              </a:xfrm>
              <a:prstGeom prst="rect">
                <a:avLst/>
              </a:prstGeom>
              <a:solidFill>
                <a:srgbClr val="49220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o-RO" dirty="0" smtClean="0">
                    <a:solidFill>
                      <a:srgbClr val="622E0A"/>
                    </a:solidFill>
                    <a:latin typeface="Libre Baskerville" panose="02000000000000000000" pitchFamily="2" charset="0"/>
                  </a:rPr>
                  <a:t>Bar</a:t>
                </a:r>
                <a:endParaRPr lang="en-US" dirty="0">
                  <a:solidFill>
                    <a:srgbClr val="622E0A"/>
                  </a:solidFill>
                  <a:latin typeface="Libre Baskerville" panose="02000000000000000000" pitchFamily="2" charset="0"/>
                </a:endParaRPr>
              </a:p>
            </p:txBody>
          </p:sp>
          <p:sp>
            <p:nvSpPr>
              <p:cNvPr id="183" name="Rectangle 182"/>
              <p:cNvSpPr/>
              <p:nvPr/>
            </p:nvSpPr>
            <p:spPr>
              <a:xfrm>
                <a:off x="1600145" y="581981"/>
                <a:ext cx="1304717" cy="85421"/>
              </a:xfrm>
              <a:prstGeom prst="rect">
                <a:avLst/>
              </a:prstGeom>
              <a:solidFill>
                <a:srgbClr val="000000">
                  <a:alpha val="2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392" name="Group 391"/>
          <p:cNvGrpSpPr/>
          <p:nvPr/>
        </p:nvGrpSpPr>
        <p:grpSpPr>
          <a:xfrm>
            <a:off x="1620273" y="695295"/>
            <a:ext cx="1117712" cy="166866"/>
            <a:chOff x="1620273" y="695295"/>
            <a:chExt cx="1117712" cy="166866"/>
          </a:xfrm>
        </p:grpSpPr>
        <p:sp>
          <p:nvSpPr>
            <p:cNvPr id="196" name="Oval 195"/>
            <p:cNvSpPr/>
            <p:nvPr/>
          </p:nvSpPr>
          <p:spPr>
            <a:xfrm>
              <a:off x="1620273" y="698651"/>
              <a:ext cx="109410" cy="109410"/>
            </a:xfrm>
            <a:prstGeom prst="ellipse">
              <a:avLst/>
            </a:prstGeom>
            <a:solidFill>
              <a:srgbClr val="492207"/>
            </a:solidFill>
            <a:ln w="57150">
              <a:solidFill>
                <a:srgbClr val="000000">
                  <a:alpha val="30196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8" name="Oval 197"/>
            <p:cNvSpPr/>
            <p:nvPr/>
          </p:nvSpPr>
          <p:spPr>
            <a:xfrm>
              <a:off x="1798819" y="707371"/>
              <a:ext cx="109410" cy="109410"/>
            </a:xfrm>
            <a:prstGeom prst="ellipse">
              <a:avLst/>
            </a:prstGeom>
            <a:solidFill>
              <a:srgbClr val="492207"/>
            </a:solidFill>
            <a:ln w="57150">
              <a:solidFill>
                <a:srgbClr val="000000">
                  <a:alpha val="30196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9" name="Oval 198"/>
            <p:cNvSpPr/>
            <p:nvPr/>
          </p:nvSpPr>
          <p:spPr>
            <a:xfrm>
              <a:off x="2011903" y="752751"/>
              <a:ext cx="109410" cy="109410"/>
            </a:xfrm>
            <a:prstGeom prst="ellipse">
              <a:avLst/>
            </a:prstGeom>
            <a:solidFill>
              <a:srgbClr val="492207"/>
            </a:solidFill>
            <a:ln w="57150">
              <a:solidFill>
                <a:srgbClr val="000000">
                  <a:alpha val="30196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0" name="Oval 199"/>
            <p:cNvSpPr/>
            <p:nvPr/>
          </p:nvSpPr>
          <p:spPr>
            <a:xfrm>
              <a:off x="2220568" y="695295"/>
              <a:ext cx="109410" cy="109410"/>
            </a:xfrm>
            <a:prstGeom prst="ellipse">
              <a:avLst/>
            </a:prstGeom>
            <a:solidFill>
              <a:srgbClr val="492207"/>
            </a:solidFill>
            <a:ln w="57150">
              <a:solidFill>
                <a:srgbClr val="000000">
                  <a:alpha val="30196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1" name="Oval 200"/>
            <p:cNvSpPr/>
            <p:nvPr/>
          </p:nvSpPr>
          <p:spPr>
            <a:xfrm>
              <a:off x="2419910" y="710441"/>
              <a:ext cx="109410" cy="109410"/>
            </a:xfrm>
            <a:prstGeom prst="ellipse">
              <a:avLst/>
            </a:prstGeom>
            <a:solidFill>
              <a:srgbClr val="492207"/>
            </a:solidFill>
            <a:ln w="57150">
              <a:solidFill>
                <a:srgbClr val="000000">
                  <a:alpha val="30196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2" name="Oval 201"/>
            <p:cNvSpPr/>
            <p:nvPr/>
          </p:nvSpPr>
          <p:spPr>
            <a:xfrm>
              <a:off x="2628575" y="710441"/>
              <a:ext cx="109410" cy="109410"/>
            </a:xfrm>
            <a:prstGeom prst="ellipse">
              <a:avLst/>
            </a:prstGeom>
            <a:solidFill>
              <a:srgbClr val="492207"/>
            </a:solidFill>
            <a:ln w="57150">
              <a:solidFill>
                <a:srgbClr val="000000">
                  <a:alpha val="30196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08" name="Group 207"/>
          <p:cNvGrpSpPr/>
          <p:nvPr/>
        </p:nvGrpSpPr>
        <p:grpSpPr>
          <a:xfrm>
            <a:off x="2863680" y="2215757"/>
            <a:ext cx="345447" cy="722055"/>
            <a:chOff x="2840255" y="1727778"/>
            <a:chExt cx="375115" cy="784067"/>
          </a:xfrm>
        </p:grpSpPr>
        <p:sp>
          <p:nvSpPr>
            <p:cNvPr id="209" name="Rounded Rectangle 208"/>
            <p:cNvSpPr/>
            <p:nvPr/>
          </p:nvSpPr>
          <p:spPr>
            <a:xfrm>
              <a:off x="2840255" y="1727778"/>
              <a:ext cx="375115" cy="784067"/>
            </a:xfrm>
            <a:prstGeom prst="roundRect">
              <a:avLst/>
            </a:prstGeom>
            <a:solidFill>
              <a:srgbClr val="7E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Rounded Rectangle 209"/>
            <p:cNvSpPr/>
            <p:nvPr/>
          </p:nvSpPr>
          <p:spPr>
            <a:xfrm>
              <a:off x="3005234" y="1790663"/>
              <a:ext cx="169472" cy="317138"/>
            </a:xfrm>
            <a:prstGeom prst="roundRect">
              <a:avLst/>
            </a:prstGeom>
            <a:solidFill>
              <a:srgbClr val="000000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" name="Rounded Rectangle 210"/>
            <p:cNvSpPr/>
            <p:nvPr/>
          </p:nvSpPr>
          <p:spPr>
            <a:xfrm>
              <a:off x="3005234" y="2126935"/>
              <a:ext cx="169472" cy="317138"/>
            </a:xfrm>
            <a:prstGeom prst="roundRect">
              <a:avLst/>
            </a:prstGeom>
            <a:solidFill>
              <a:srgbClr val="000000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" name="Rounded Rectangle 211"/>
            <p:cNvSpPr/>
            <p:nvPr/>
          </p:nvSpPr>
          <p:spPr>
            <a:xfrm>
              <a:off x="2876197" y="2455912"/>
              <a:ext cx="311241" cy="45719"/>
            </a:xfrm>
            <a:prstGeom prst="roundRect">
              <a:avLst/>
            </a:prstGeom>
            <a:solidFill>
              <a:srgbClr val="000000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3" name="Rounded Rectangle 212"/>
            <p:cNvSpPr/>
            <p:nvPr/>
          </p:nvSpPr>
          <p:spPr>
            <a:xfrm>
              <a:off x="2869623" y="1736815"/>
              <a:ext cx="311241" cy="45719"/>
            </a:xfrm>
            <a:prstGeom prst="roundRect">
              <a:avLst/>
            </a:prstGeom>
            <a:solidFill>
              <a:srgbClr val="000000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4" name="Rectangle 213"/>
          <p:cNvSpPr/>
          <p:nvPr/>
        </p:nvSpPr>
        <p:spPr>
          <a:xfrm>
            <a:off x="2848243" y="1055103"/>
            <a:ext cx="359731" cy="326532"/>
          </a:xfrm>
          <a:prstGeom prst="rect">
            <a:avLst/>
          </a:prstGeom>
          <a:solidFill>
            <a:srgbClr val="4922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16" name="Group 215"/>
          <p:cNvGrpSpPr/>
          <p:nvPr/>
        </p:nvGrpSpPr>
        <p:grpSpPr>
          <a:xfrm rot="9900000">
            <a:off x="2876233" y="3388887"/>
            <a:ext cx="281090" cy="281090"/>
            <a:chOff x="2836912" y="3174001"/>
            <a:chExt cx="377756" cy="377756"/>
          </a:xfrm>
        </p:grpSpPr>
        <p:sp>
          <p:nvSpPr>
            <p:cNvPr id="217" name="Oval 216"/>
            <p:cNvSpPr/>
            <p:nvPr/>
          </p:nvSpPr>
          <p:spPr>
            <a:xfrm>
              <a:off x="2836912" y="3174001"/>
              <a:ext cx="377756" cy="377756"/>
            </a:xfrm>
            <a:prstGeom prst="ellipse">
              <a:avLst/>
            </a:prstGeom>
            <a:solidFill>
              <a:srgbClr val="492207"/>
            </a:solidFill>
            <a:ln w="57150">
              <a:solidFill>
                <a:srgbClr val="000000">
                  <a:alpha val="30196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8" name="Oval 217"/>
            <p:cNvSpPr/>
            <p:nvPr/>
          </p:nvSpPr>
          <p:spPr>
            <a:xfrm>
              <a:off x="2924781" y="3280114"/>
              <a:ext cx="45720" cy="45720"/>
            </a:xfrm>
            <a:prstGeom prst="ellipse">
              <a:avLst/>
            </a:prstGeom>
            <a:solidFill>
              <a:srgbClr val="000000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19" name="Group 218"/>
          <p:cNvGrpSpPr/>
          <p:nvPr/>
        </p:nvGrpSpPr>
        <p:grpSpPr>
          <a:xfrm rot="5400000">
            <a:off x="3012914" y="1108447"/>
            <a:ext cx="180369" cy="137161"/>
            <a:chOff x="3490632" y="2669890"/>
            <a:chExt cx="180369" cy="137161"/>
          </a:xfrm>
        </p:grpSpPr>
        <p:sp>
          <p:nvSpPr>
            <p:cNvPr id="220" name="Oval 219"/>
            <p:cNvSpPr/>
            <p:nvPr/>
          </p:nvSpPr>
          <p:spPr>
            <a:xfrm>
              <a:off x="3502310" y="2669890"/>
              <a:ext cx="45720" cy="45720"/>
            </a:xfrm>
            <a:prstGeom prst="ellipse">
              <a:avLst/>
            </a:prstGeom>
            <a:solidFill>
              <a:srgbClr val="FFC000"/>
            </a:solidFill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1" name="Oval 220"/>
            <p:cNvSpPr/>
            <p:nvPr/>
          </p:nvSpPr>
          <p:spPr>
            <a:xfrm>
              <a:off x="3586801" y="2696370"/>
              <a:ext cx="84200" cy="84200"/>
            </a:xfrm>
            <a:prstGeom prst="ellipse">
              <a:avLst/>
            </a:prstGeom>
            <a:solidFill>
              <a:srgbClr val="FFC000"/>
            </a:solidFill>
            <a:ln w="57150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4" name="Oval 223"/>
            <p:cNvSpPr/>
            <p:nvPr/>
          </p:nvSpPr>
          <p:spPr>
            <a:xfrm>
              <a:off x="3490632" y="2761331"/>
              <a:ext cx="45720" cy="45720"/>
            </a:xfrm>
            <a:prstGeom prst="ellipse">
              <a:avLst/>
            </a:prstGeom>
            <a:solidFill>
              <a:srgbClr val="FFC000"/>
            </a:solidFill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2" name="Rectangle 231"/>
          <p:cNvSpPr/>
          <p:nvPr/>
        </p:nvSpPr>
        <p:spPr>
          <a:xfrm>
            <a:off x="1503994" y="247472"/>
            <a:ext cx="1249671" cy="68429"/>
          </a:xfrm>
          <a:prstGeom prst="rect">
            <a:avLst/>
          </a:prstGeom>
          <a:solidFill>
            <a:srgbClr val="0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33" name="Group 232"/>
          <p:cNvGrpSpPr/>
          <p:nvPr/>
        </p:nvGrpSpPr>
        <p:grpSpPr>
          <a:xfrm rot="16200000">
            <a:off x="1808591" y="851347"/>
            <a:ext cx="721628" cy="1138520"/>
            <a:chOff x="4045394" y="3424269"/>
            <a:chExt cx="1053212" cy="1661662"/>
          </a:xfrm>
        </p:grpSpPr>
        <p:grpSp>
          <p:nvGrpSpPr>
            <p:cNvPr id="234" name="Group 233"/>
            <p:cNvGrpSpPr/>
            <p:nvPr/>
          </p:nvGrpSpPr>
          <p:grpSpPr>
            <a:xfrm>
              <a:off x="4045394" y="3424269"/>
              <a:ext cx="1053212" cy="1661662"/>
              <a:chOff x="4045394" y="3424269"/>
              <a:chExt cx="1053212" cy="1661662"/>
            </a:xfrm>
          </p:grpSpPr>
          <p:grpSp>
            <p:nvGrpSpPr>
              <p:cNvPr id="237" name="Group 236"/>
              <p:cNvGrpSpPr/>
              <p:nvPr/>
            </p:nvGrpSpPr>
            <p:grpSpPr>
              <a:xfrm>
                <a:off x="4045394" y="3424269"/>
                <a:ext cx="1053212" cy="1661662"/>
                <a:chOff x="4045394" y="3424269"/>
                <a:chExt cx="1053212" cy="1661662"/>
              </a:xfrm>
            </p:grpSpPr>
            <p:grpSp>
              <p:nvGrpSpPr>
                <p:cNvPr id="247" name="Group 246"/>
                <p:cNvGrpSpPr/>
                <p:nvPr/>
              </p:nvGrpSpPr>
              <p:grpSpPr>
                <a:xfrm>
                  <a:off x="4045394" y="3424269"/>
                  <a:ext cx="1053212" cy="1661662"/>
                  <a:chOff x="4045394" y="3424269"/>
                  <a:chExt cx="1053212" cy="1661662"/>
                </a:xfrm>
              </p:grpSpPr>
              <p:grpSp>
                <p:nvGrpSpPr>
                  <p:cNvPr id="252" name="Group 251"/>
                  <p:cNvGrpSpPr/>
                  <p:nvPr/>
                </p:nvGrpSpPr>
                <p:grpSpPr>
                  <a:xfrm>
                    <a:off x="4045394" y="3424269"/>
                    <a:ext cx="1053212" cy="1661662"/>
                    <a:chOff x="4045394" y="3424269"/>
                    <a:chExt cx="1053212" cy="1661662"/>
                  </a:xfrm>
                </p:grpSpPr>
                <p:grpSp>
                  <p:nvGrpSpPr>
                    <p:cNvPr id="254" name="Group 253"/>
                    <p:cNvGrpSpPr/>
                    <p:nvPr/>
                  </p:nvGrpSpPr>
                  <p:grpSpPr>
                    <a:xfrm>
                      <a:off x="4045394" y="3424269"/>
                      <a:ext cx="1053212" cy="1661662"/>
                      <a:chOff x="4045394" y="3424269"/>
                      <a:chExt cx="1053212" cy="1661662"/>
                    </a:xfrm>
                  </p:grpSpPr>
                  <p:sp>
                    <p:nvSpPr>
                      <p:cNvPr id="257" name="Rectangle 256"/>
                      <p:cNvSpPr/>
                      <p:nvPr/>
                    </p:nvSpPr>
                    <p:spPr>
                      <a:xfrm>
                        <a:off x="4045394" y="3424269"/>
                        <a:ext cx="1053212" cy="1661662"/>
                      </a:xfrm>
                      <a:prstGeom prst="rect">
                        <a:avLst/>
                      </a:prstGeom>
                      <a:solidFill>
                        <a:srgbClr val="600000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258" name="Rectangle 257"/>
                      <p:cNvSpPr/>
                      <p:nvPr/>
                    </p:nvSpPr>
                    <p:spPr>
                      <a:xfrm>
                        <a:off x="4095844" y="3479800"/>
                        <a:ext cx="941858" cy="1560382"/>
                      </a:xfrm>
                      <a:prstGeom prst="rect">
                        <a:avLst/>
                      </a:prstGeom>
                      <a:solidFill>
                        <a:srgbClr val="7E0000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sp>
                  <p:nvSpPr>
                    <p:cNvPr id="255" name="Flowchart: Decision 254"/>
                    <p:cNvSpPr/>
                    <p:nvPr/>
                  </p:nvSpPr>
                  <p:spPr>
                    <a:xfrm>
                      <a:off x="4286448" y="3689424"/>
                      <a:ext cx="557750" cy="1147353"/>
                    </a:xfrm>
                    <a:prstGeom prst="flowChartDecision">
                      <a:avLst/>
                    </a:prstGeom>
                    <a:solidFill>
                      <a:srgbClr val="60000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56" name="Flowchart: Decision 255"/>
                    <p:cNvSpPr/>
                    <p:nvPr/>
                  </p:nvSpPr>
                  <p:spPr>
                    <a:xfrm>
                      <a:off x="4340958" y="3778230"/>
                      <a:ext cx="454128" cy="975257"/>
                    </a:xfrm>
                    <a:prstGeom prst="flowChartDecision">
                      <a:avLst/>
                    </a:prstGeom>
                    <a:solidFill>
                      <a:srgbClr val="A4000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sp>
                <p:nvSpPr>
                  <p:cNvPr id="253" name="Decagon 252"/>
                  <p:cNvSpPr/>
                  <p:nvPr/>
                </p:nvSpPr>
                <p:spPr>
                  <a:xfrm>
                    <a:off x="4419198" y="4118285"/>
                    <a:ext cx="303176" cy="299435"/>
                  </a:xfrm>
                  <a:prstGeom prst="decagon">
                    <a:avLst/>
                  </a:prstGeom>
                  <a:solidFill>
                    <a:srgbClr val="7F6000">
                      <a:alpha val="69804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248" name="L-Shape 247"/>
                <p:cNvSpPr/>
                <p:nvPr/>
              </p:nvSpPr>
              <p:spPr>
                <a:xfrm>
                  <a:off x="4095844" y="4779648"/>
                  <a:ext cx="260534" cy="260534"/>
                </a:xfrm>
                <a:prstGeom prst="corner">
                  <a:avLst/>
                </a:prstGeom>
                <a:solidFill>
                  <a:srgbClr val="7F6000">
                    <a:alpha val="69804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49" name="L-Shape 248"/>
                <p:cNvSpPr/>
                <p:nvPr/>
              </p:nvSpPr>
              <p:spPr>
                <a:xfrm rot="16200000">
                  <a:off x="4772311" y="4779648"/>
                  <a:ext cx="260534" cy="260534"/>
                </a:xfrm>
                <a:prstGeom prst="corner">
                  <a:avLst/>
                </a:prstGeom>
                <a:solidFill>
                  <a:srgbClr val="7F6000">
                    <a:alpha val="69804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50" name="L-Shape 249"/>
                <p:cNvSpPr/>
                <p:nvPr/>
              </p:nvSpPr>
              <p:spPr>
                <a:xfrm rot="10800000">
                  <a:off x="4779138" y="3476808"/>
                  <a:ext cx="260534" cy="260534"/>
                </a:xfrm>
                <a:prstGeom prst="corner">
                  <a:avLst/>
                </a:prstGeom>
                <a:solidFill>
                  <a:srgbClr val="7F6000">
                    <a:alpha val="69804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51" name="L-Shape 250"/>
                <p:cNvSpPr/>
                <p:nvPr/>
              </p:nvSpPr>
              <p:spPr>
                <a:xfrm rot="5400000">
                  <a:off x="4102671" y="3476808"/>
                  <a:ext cx="260534" cy="260534"/>
                </a:xfrm>
                <a:prstGeom prst="corner">
                  <a:avLst/>
                </a:prstGeom>
                <a:solidFill>
                  <a:srgbClr val="7F6000">
                    <a:alpha val="69804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38" name="Oval 237"/>
              <p:cNvSpPr/>
              <p:nvPr/>
            </p:nvSpPr>
            <p:spPr>
              <a:xfrm>
                <a:off x="4480181" y="4180718"/>
                <a:ext cx="179805" cy="179807"/>
              </a:xfrm>
              <a:prstGeom prst="ellipse">
                <a:avLst/>
              </a:prstGeom>
              <a:solidFill>
                <a:srgbClr val="000000">
                  <a:alpha val="3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9" name="Oval 238"/>
              <p:cNvSpPr/>
              <p:nvPr/>
            </p:nvSpPr>
            <p:spPr>
              <a:xfrm>
                <a:off x="4819502" y="3529691"/>
                <a:ext cx="179806" cy="179806"/>
              </a:xfrm>
              <a:prstGeom prst="ellipse">
                <a:avLst/>
              </a:prstGeom>
              <a:solidFill>
                <a:srgbClr val="000000">
                  <a:alpha val="3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0" name="Oval 239"/>
              <p:cNvSpPr/>
              <p:nvPr/>
            </p:nvSpPr>
            <p:spPr>
              <a:xfrm>
                <a:off x="4152342" y="3520073"/>
                <a:ext cx="179806" cy="179806"/>
              </a:xfrm>
              <a:prstGeom prst="ellipse">
                <a:avLst/>
              </a:prstGeom>
              <a:solidFill>
                <a:srgbClr val="000000">
                  <a:alpha val="3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1" name="Oval 240"/>
              <p:cNvSpPr/>
              <p:nvPr/>
            </p:nvSpPr>
            <p:spPr>
              <a:xfrm>
                <a:off x="4809764" y="4830666"/>
                <a:ext cx="179805" cy="179807"/>
              </a:xfrm>
              <a:prstGeom prst="ellipse">
                <a:avLst/>
              </a:prstGeom>
              <a:solidFill>
                <a:srgbClr val="000000">
                  <a:alpha val="3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2" name="Oval 241"/>
              <p:cNvSpPr/>
              <p:nvPr/>
            </p:nvSpPr>
            <p:spPr>
              <a:xfrm>
                <a:off x="4142604" y="4821048"/>
                <a:ext cx="179805" cy="179807"/>
              </a:xfrm>
              <a:prstGeom prst="ellipse">
                <a:avLst/>
              </a:prstGeom>
              <a:solidFill>
                <a:srgbClr val="000000">
                  <a:alpha val="3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3" name="Oval 242"/>
              <p:cNvSpPr/>
              <p:nvPr/>
            </p:nvSpPr>
            <p:spPr>
              <a:xfrm>
                <a:off x="4286102" y="3783596"/>
                <a:ext cx="103054" cy="103054"/>
              </a:xfrm>
              <a:prstGeom prst="ellipse">
                <a:avLst/>
              </a:prstGeom>
              <a:solidFill>
                <a:srgbClr val="000000">
                  <a:alpha val="60000"/>
                </a:srgbClr>
              </a:solidFill>
              <a:ln>
                <a:solidFill>
                  <a:srgbClr val="7F6000">
                    <a:alpha val="60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4" name="Oval 243"/>
              <p:cNvSpPr/>
              <p:nvPr/>
            </p:nvSpPr>
            <p:spPr>
              <a:xfrm>
                <a:off x="4756890" y="3786700"/>
                <a:ext cx="103054" cy="103054"/>
              </a:xfrm>
              <a:prstGeom prst="ellipse">
                <a:avLst/>
              </a:prstGeom>
              <a:solidFill>
                <a:srgbClr val="000000">
                  <a:alpha val="60000"/>
                </a:srgbClr>
              </a:solidFill>
              <a:ln>
                <a:solidFill>
                  <a:srgbClr val="7F6000">
                    <a:alpha val="60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5" name="Oval 244"/>
              <p:cNvSpPr/>
              <p:nvPr/>
            </p:nvSpPr>
            <p:spPr>
              <a:xfrm>
                <a:off x="4284052" y="4652186"/>
                <a:ext cx="103053" cy="103053"/>
              </a:xfrm>
              <a:prstGeom prst="ellipse">
                <a:avLst/>
              </a:prstGeom>
              <a:solidFill>
                <a:srgbClr val="000000">
                  <a:alpha val="60000"/>
                </a:srgbClr>
              </a:solidFill>
              <a:ln>
                <a:solidFill>
                  <a:srgbClr val="7F6000">
                    <a:alpha val="60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6" name="Oval 245"/>
              <p:cNvSpPr/>
              <p:nvPr/>
            </p:nvSpPr>
            <p:spPr>
              <a:xfrm>
                <a:off x="4754840" y="4655290"/>
                <a:ext cx="103053" cy="103053"/>
              </a:xfrm>
              <a:prstGeom prst="ellipse">
                <a:avLst/>
              </a:prstGeom>
              <a:solidFill>
                <a:srgbClr val="000000">
                  <a:alpha val="60000"/>
                </a:srgbClr>
              </a:solidFill>
              <a:ln>
                <a:solidFill>
                  <a:srgbClr val="7F6000">
                    <a:alpha val="60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35" name="Rectangle 234"/>
            <p:cNvSpPr/>
            <p:nvPr/>
          </p:nvSpPr>
          <p:spPr>
            <a:xfrm>
              <a:off x="4921326" y="3800488"/>
              <a:ext cx="118345" cy="954704"/>
            </a:xfrm>
            <a:prstGeom prst="rect">
              <a:avLst/>
            </a:prstGeom>
            <a:solidFill>
              <a:srgbClr val="7F6000">
                <a:alpha val="2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6" name="Rectangle 235"/>
            <p:cNvSpPr/>
            <p:nvPr/>
          </p:nvSpPr>
          <p:spPr>
            <a:xfrm>
              <a:off x="4095845" y="3800489"/>
              <a:ext cx="118345" cy="954705"/>
            </a:xfrm>
            <a:prstGeom prst="rect">
              <a:avLst/>
            </a:prstGeom>
            <a:solidFill>
              <a:srgbClr val="7F6000">
                <a:alpha val="2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2" name="TextBox 61"/>
          <p:cNvSpPr txBox="1"/>
          <p:nvPr/>
        </p:nvSpPr>
        <p:spPr>
          <a:xfrm>
            <a:off x="1833705" y="2590351"/>
            <a:ext cx="944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200" dirty="0" smtClean="0">
                <a:solidFill>
                  <a:srgbClr val="492207"/>
                </a:solidFill>
                <a:latin typeface="Libre Baskerville" panose="02000000000000000000" pitchFamily="2" charset="0"/>
              </a:rPr>
              <a:t>Drawing Room</a:t>
            </a:r>
            <a:endParaRPr lang="en-US" sz="1200" dirty="0">
              <a:solidFill>
                <a:srgbClr val="492207"/>
              </a:solidFill>
              <a:latin typeface="Libre Baskerville" panose="02000000000000000000" pitchFamily="2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1546494" y="432709"/>
            <a:ext cx="394624" cy="119516"/>
            <a:chOff x="1650738" y="450412"/>
            <a:chExt cx="394624" cy="119516"/>
          </a:xfrm>
        </p:grpSpPr>
        <p:sp>
          <p:nvSpPr>
            <p:cNvPr id="18" name="Oval 17"/>
            <p:cNvSpPr/>
            <p:nvPr/>
          </p:nvSpPr>
          <p:spPr>
            <a:xfrm>
              <a:off x="1653811" y="523458"/>
              <a:ext cx="45720" cy="4572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5" name="Oval 224"/>
            <p:cNvSpPr/>
            <p:nvPr/>
          </p:nvSpPr>
          <p:spPr>
            <a:xfrm>
              <a:off x="1722654" y="523304"/>
              <a:ext cx="45720" cy="4572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6" name="Oval 225"/>
            <p:cNvSpPr/>
            <p:nvPr/>
          </p:nvSpPr>
          <p:spPr>
            <a:xfrm>
              <a:off x="1791645" y="524208"/>
              <a:ext cx="45720" cy="4572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7" name="Oval 226"/>
            <p:cNvSpPr/>
            <p:nvPr/>
          </p:nvSpPr>
          <p:spPr>
            <a:xfrm>
              <a:off x="1858107" y="524054"/>
              <a:ext cx="45720" cy="4572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8" name="Oval 227"/>
            <p:cNvSpPr/>
            <p:nvPr/>
          </p:nvSpPr>
          <p:spPr>
            <a:xfrm>
              <a:off x="1650738" y="454096"/>
              <a:ext cx="45720" cy="4572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9" name="Oval 228"/>
            <p:cNvSpPr/>
            <p:nvPr/>
          </p:nvSpPr>
          <p:spPr>
            <a:xfrm>
              <a:off x="1719581" y="453942"/>
              <a:ext cx="45720" cy="4572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0" name="Oval 229"/>
            <p:cNvSpPr/>
            <p:nvPr/>
          </p:nvSpPr>
          <p:spPr>
            <a:xfrm>
              <a:off x="1788572" y="454846"/>
              <a:ext cx="45720" cy="4572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1" name="Oval 230"/>
            <p:cNvSpPr/>
            <p:nvPr/>
          </p:nvSpPr>
          <p:spPr>
            <a:xfrm>
              <a:off x="1855034" y="454692"/>
              <a:ext cx="45720" cy="4572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9" name="Oval 258"/>
            <p:cNvSpPr/>
            <p:nvPr/>
          </p:nvSpPr>
          <p:spPr>
            <a:xfrm>
              <a:off x="1927854" y="522003"/>
              <a:ext cx="45720" cy="4572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0" name="Oval 259"/>
            <p:cNvSpPr/>
            <p:nvPr/>
          </p:nvSpPr>
          <p:spPr>
            <a:xfrm>
              <a:off x="1924781" y="452641"/>
              <a:ext cx="45720" cy="4572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1" name="Oval 260"/>
            <p:cNvSpPr/>
            <p:nvPr/>
          </p:nvSpPr>
          <p:spPr>
            <a:xfrm>
              <a:off x="1999642" y="519774"/>
              <a:ext cx="45720" cy="4572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2" name="Oval 261"/>
            <p:cNvSpPr/>
            <p:nvPr/>
          </p:nvSpPr>
          <p:spPr>
            <a:xfrm>
              <a:off x="1996569" y="450412"/>
              <a:ext cx="45720" cy="4572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90" name="Group 389"/>
          <p:cNvGrpSpPr/>
          <p:nvPr/>
        </p:nvGrpSpPr>
        <p:grpSpPr>
          <a:xfrm>
            <a:off x="2534912" y="436754"/>
            <a:ext cx="228801" cy="116127"/>
            <a:chOff x="2651569" y="450506"/>
            <a:chExt cx="228801" cy="116127"/>
          </a:xfrm>
        </p:grpSpPr>
        <p:sp>
          <p:nvSpPr>
            <p:cNvPr id="24" name="Rounded Rectangle 23"/>
            <p:cNvSpPr/>
            <p:nvPr/>
          </p:nvSpPr>
          <p:spPr>
            <a:xfrm>
              <a:off x="2834651" y="519086"/>
              <a:ext cx="45719" cy="45719"/>
            </a:xfrm>
            <a:prstGeom prst="roundRect">
              <a:avLst/>
            </a:prstGeom>
            <a:solidFill>
              <a:schemeClr val="accent2">
                <a:lumMod val="50000"/>
              </a:schemeClr>
            </a:solidFill>
            <a:ln w="28575">
              <a:solidFill>
                <a:srgbClr val="ADB9CA">
                  <a:alpha val="4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4" name="Rounded Rectangle 263"/>
            <p:cNvSpPr/>
            <p:nvPr/>
          </p:nvSpPr>
          <p:spPr>
            <a:xfrm>
              <a:off x="2651569" y="496226"/>
              <a:ext cx="45719" cy="45719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 w="28575">
              <a:solidFill>
                <a:srgbClr val="ADB9CA">
                  <a:alpha val="4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/>
            <p:cNvSpPr/>
            <p:nvPr/>
          </p:nvSpPr>
          <p:spPr>
            <a:xfrm>
              <a:off x="2745330" y="520914"/>
              <a:ext cx="45719" cy="45719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 w="28575">
              <a:solidFill>
                <a:srgbClr val="ADB9CA">
                  <a:alpha val="4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7" name="Oval 266"/>
            <p:cNvSpPr/>
            <p:nvPr/>
          </p:nvSpPr>
          <p:spPr>
            <a:xfrm>
              <a:off x="2770320" y="450506"/>
              <a:ext cx="45719" cy="45719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  <a:ln w="28575">
              <a:solidFill>
                <a:srgbClr val="ADB9CA">
                  <a:alpha val="4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3" name="Group 262"/>
          <p:cNvGrpSpPr/>
          <p:nvPr/>
        </p:nvGrpSpPr>
        <p:grpSpPr>
          <a:xfrm rot="16200000">
            <a:off x="1141902" y="1810620"/>
            <a:ext cx="294854" cy="368561"/>
            <a:chOff x="2840254" y="2042961"/>
            <a:chExt cx="375115" cy="468886"/>
          </a:xfrm>
        </p:grpSpPr>
        <p:sp>
          <p:nvSpPr>
            <p:cNvPr id="265" name="Rounded Rectangle 264"/>
            <p:cNvSpPr/>
            <p:nvPr/>
          </p:nvSpPr>
          <p:spPr>
            <a:xfrm>
              <a:off x="2840254" y="2042961"/>
              <a:ext cx="375115" cy="468886"/>
            </a:xfrm>
            <a:prstGeom prst="roundRect">
              <a:avLst/>
            </a:prstGeom>
            <a:solidFill>
              <a:srgbClr val="7E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8" name="Rounded Rectangle 267"/>
            <p:cNvSpPr/>
            <p:nvPr/>
          </p:nvSpPr>
          <p:spPr>
            <a:xfrm>
              <a:off x="3016430" y="2120404"/>
              <a:ext cx="169472" cy="317138"/>
            </a:xfrm>
            <a:prstGeom prst="roundRect">
              <a:avLst/>
            </a:prstGeom>
            <a:solidFill>
              <a:srgbClr val="000000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9" name="Rounded Rectangle 268"/>
            <p:cNvSpPr/>
            <p:nvPr/>
          </p:nvSpPr>
          <p:spPr>
            <a:xfrm>
              <a:off x="2876197" y="2455912"/>
              <a:ext cx="311241" cy="45719"/>
            </a:xfrm>
            <a:prstGeom prst="roundRect">
              <a:avLst/>
            </a:prstGeom>
            <a:solidFill>
              <a:srgbClr val="000000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0" name="Rounded Rectangle 269"/>
            <p:cNvSpPr/>
            <p:nvPr/>
          </p:nvSpPr>
          <p:spPr>
            <a:xfrm>
              <a:off x="2869622" y="2056432"/>
              <a:ext cx="311241" cy="45719"/>
            </a:xfrm>
            <a:prstGeom prst="roundRect">
              <a:avLst/>
            </a:prstGeom>
            <a:solidFill>
              <a:srgbClr val="000000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77" name="Straight Connector 76"/>
          <p:cNvCxnSpPr/>
          <p:nvPr/>
        </p:nvCxnSpPr>
        <p:spPr>
          <a:xfrm>
            <a:off x="5833241" y="1800633"/>
            <a:ext cx="453259" cy="0"/>
          </a:xfrm>
          <a:prstGeom prst="line">
            <a:avLst/>
          </a:prstGeom>
          <a:ln w="38100">
            <a:solidFill>
              <a:srgbClr val="4922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/>
          <p:nvPr/>
        </p:nvCxnSpPr>
        <p:spPr>
          <a:xfrm flipV="1">
            <a:off x="6270802" y="244759"/>
            <a:ext cx="0" cy="1562896"/>
          </a:xfrm>
          <a:prstGeom prst="line">
            <a:avLst/>
          </a:prstGeom>
          <a:ln w="38100">
            <a:solidFill>
              <a:srgbClr val="4922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Straight Connector 272"/>
          <p:cNvCxnSpPr/>
          <p:nvPr/>
        </p:nvCxnSpPr>
        <p:spPr>
          <a:xfrm flipV="1">
            <a:off x="7153319" y="244759"/>
            <a:ext cx="0" cy="3862511"/>
          </a:xfrm>
          <a:prstGeom prst="line">
            <a:avLst/>
          </a:prstGeom>
          <a:ln w="38100">
            <a:solidFill>
              <a:srgbClr val="4922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/>
          <p:cNvCxnSpPr/>
          <p:nvPr/>
        </p:nvCxnSpPr>
        <p:spPr>
          <a:xfrm>
            <a:off x="7153319" y="4107270"/>
            <a:ext cx="406739" cy="0"/>
          </a:xfrm>
          <a:prstGeom prst="line">
            <a:avLst/>
          </a:prstGeom>
          <a:ln w="38100">
            <a:solidFill>
              <a:srgbClr val="4922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Connector 275"/>
          <p:cNvCxnSpPr/>
          <p:nvPr/>
        </p:nvCxnSpPr>
        <p:spPr>
          <a:xfrm flipV="1">
            <a:off x="6266496" y="2151461"/>
            <a:ext cx="0" cy="405650"/>
          </a:xfrm>
          <a:prstGeom prst="line">
            <a:avLst/>
          </a:prstGeom>
          <a:ln w="38100">
            <a:solidFill>
              <a:srgbClr val="4922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Straight Connector 278"/>
          <p:cNvCxnSpPr/>
          <p:nvPr/>
        </p:nvCxnSpPr>
        <p:spPr>
          <a:xfrm flipV="1">
            <a:off x="3262313" y="2555138"/>
            <a:ext cx="3024187" cy="1973"/>
          </a:xfrm>
          <a:prstGeom prst="line">
            <a:avLst/>
          </a:prstGeom>
          <a:ln w="38100">
            <a:solidFill>
              <a:srgbClr val="4922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Straight Connector 281"/>
          <p:cNvCxnSpPr/>
          <p:nvPr/>
        </p:nvCxnSpPr>
        <p:spPr>
          <a:xfrm flipH="1" flipV="1">
            <a:off x="3260903" y="252780"/>
            <a:ext cx="1410" cy="3475274"/>
          </a:xfrm>
          <a:prstGeom prst="line">
            <a:avLst/>
          </a:prstGeom>
          <a:ln w="38100">
            <a:solidFill>
              <a:srgbClr val="4922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Connector 290"/>
          <p:cNvCxnSpPr/>
          <p:nvPr/>
        </p:nvCxnSpPr>
        <p:spPr>
          <a:xfrm flipH="1" flipV="1">
            <a:off x="7126167" y="4473545"/>
            <a:ext cx="3334" cy="430094"/>
          </a:xfrm>
          <a:prstGeom prst="line">
            <a:avLst/>
          </a:prstGeom>
          <a:ln w="38100">
            <a:solidFill>
              <a:srgbClr val="4922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3" name="Rectangle 292"/>
          <p:cNvSpPr/>
          <p:nvPr/>
        </p:nvSpPr>
        <p:spPr>
          <a:xfrm>
            <a:off x="5823757" y="257209"/>
            <a:ext cx="425902" cy="188996"/>
          </a:xfrm>
          <a:prstGeom prst="rect">
            <a:avLst/>
          </a:prstGeom>
          <a:solidFill>
            <a:srgbClr val="4922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>
              <a:solidFill>
                <a:srgbClr val="622E0A"/>
              </a:solidFill>
              <a:latin typeface="Libre Baskerville" panose="02000000000000000000" pitchFamily="2" charset="0"/>
            </a:endParaRPr>
          </a:p>
        </p:txBody>
      </p:sp>
      <p:grpSp>
        <p:nvGrpSpPr>
          <p:cNvPr id="294" name="Group 293"/>
          <p:cNvGrpSpPr/>
          <p:nvPr/>
        </p:nvGrpSpPr>
        <p:grpSpPr>
          <a:xfrm>
            <a:off x="2854588" y="1439605"/>
            <a:ext cx="345447" cy="722055"/>
            <a:chOff x="2840255" y="1727778"/>
            <a:chExt cx="375115" cy="784067"/>
          </a:xfrm>
        </p:grpSpPr>
        <p:sp>
          <p:nvSpPr>
            <p:cNvPr id="295" name="Rounded Rectangle 294"/>
            <p:cNvSpPr/>
            <p:nvPr/>
          </p:nvSpPr>
          <p:spPr>
            <a:xfrm>
              <a:off x="2840255" y="1727778"/>
              <a:ext cx="375115" cy="784067"/>
            </a:xfrm>
            <a:prstGeom prst="roundRect">
              <a:avLst/>
            </a:prstGeom>
            <a:solidFill>
              <a:srgbClr val="7E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6" name="Rounded Rectangle 295"/>
            <p:cNvSpPr/>
            <p:nvPr/>
          </p:nvSpPr>
          <p:spPr>
            <a:xfrm>
              <a:off x="3005234" y="1790663"/>
              <a:ext cx="169472" cy="317138"/>
            </a:xfrm>
            <a:prstGeom prst="roundRect">
              <a:avLst/>
            </a:prstGeom>
            <a:solidFill>
              <a:srgbClr val="000000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7" name="Rounded Rectangle 296"/>
            <p:cNvSpPr/>
            <p:nvPr/>
          </p:nvSpPr>
          <p:spPr>
            <a:xfrm>
              <a:off x="3005234" y="2126935"/>
              <a:ext cx="169472" cy="317138"/>
            </a:xfrm>
            <a:prstGeom prst="roundRect">
              <a:avLst/>
            </a:prstGeom>
            <a:solidFill>
              <a:srgbClr val="000000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8" name="Rounded Rectangle 297"/>
            <p:cNvSpPr/>
            <p:nvPr/>
          </p:nvSpPr>
          <p:spPr>
            <a:xfrm>
              <a:off x="2876197" y="2455912"/>
              <a:ext cx="311241" cy="45719"/>
            </a:xfrm>
            <a:prstGeom prst="roundRect">
              <a:avLst/>
            </a:prstGeom>
            <a:solidFill>
              <a:srgbClr val="000000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9" name="Rounded Rectangle 298"/>
            <p:cNvSpPr/>
            <p:nvPr/>
          </p:nvSpPr>
          <p:spPr>
            <a:xfrm>
              <a:off x="2869623" y="1736815"/>
              <a:ext cx="311241" cy="45719"/>
            </a:xfrm>
            <a:prstGeom prst="roundRect">
              <a:avLst/>
            </a:prstGeom>
            <a:solidFill>
              <a:srgbClr val="000000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04" name="Straight Connector 303"/>
          <p:cNvCxnSpPr/>
          <p:nvPr/>
        </p:nvCxnSpPr>
        <p:spPr>
          <a:xfrm>
            <a:off x="1520827" y="3734212"/>
            <a:ext cx="1755926" cy="1"/>
          </a:xfrm>
          <a:prstGeom prst="line">
            <a:avLst/>
          </a:prstGeom>
          <a:ln w="38100">
            <a:solidFill>
              <a:srgbClr val="4922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Straight Connector 307"/>
          <p:cNvCxnSpPr/>
          <p:nvPr/>
        </p:nvCxnSpPr>
        <p:spPr>
          <a:xfrm flipV="1">
            <a:off x="1517228" y="2583345"/>
            <a:ext cx="0" cy="1155574"/>
          </a:xfrm>
          <a:prstGeom prst="line">
            <a:avLst/>
          </a:prstGeom>
          <a:ln w="38100">
            <a:solidFill>
              <a:srgbClr val="4922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Straight Connector 311"/>
          <p:cNvCxnSpPr/>
          <p:nvPr/>
        </p:nvCxnSpPr>
        <p:spPr>
          <a:xfrm flipV="1">
            <a:off x="1517228" y="244759"/>
            <a:ext cx="0" cy="1943318"/>
          </a:xfrm>
          <a:prstGeom prst="line">
            <a:avLst/>
          </a:prstGeom>
          <a:ln w="38100">
            <a:solidFill>
              <a:srgbClr val="4922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Straight Connector 313"/>
          <p:cNvCxnSpPr/>
          <p:nvPr/>
        </p:nvCxnSpPr>
        <p:spPr>
          <a:xfrm>
            <a:off x="1496024" y="2188077"/>
            <a:ext cx="453259" cy="0"/>
          </a:xfrm>
          <a:prstGeom prst="line">
            <a:avLst/>
          </a:prstGeom>
          <a:ln w="38100">
            <a:solidFill>
              <a:srgbClr val="4922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Straight Connector 314"/>
          <p:cNvCxnSpPr/>
          <p:nvPr/>
        </p:nvCxnSpPr>
        <p:spPr>
          <a:xfrm>
            <a:off x="1090038" y="1807192"/>
            <a:ext cx="420033" cy="0"/>
          </a:xfrm>
          <a:prstGeom prst="line">
            <a:avLst/>
          </a:prstGeom>
          <a:ln w="38100">
            <a:solidFill>
              <a:srgbClr val="4922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Straight Connector 316"/>
          <p:cNvCxnSpPr/>
          <p:nvPr/>
        </p:nvCxnSpPr>
        <p:spPr>
          <a:xfrm>
            <a:off x="212922" y="1807192"/>
            <a:ext cx="444719" cy="0"/>
          </a:xfrm>
          <a:prstGeom prst="line">
            <a:avLst/>
          </a:prstGeom>
          <a:ln w="38100">
            <a:solidFill>
              <a:srgbClr val="4922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Straight Connector 321"/>
          <p:cNvCxnSpPr/>
          <p:nvPr/>
        </p:nvCxnSpPr>
        <p:spPr>
          <a:xfrm>
            <a:off x="642319" y="1417464"/>
            <a:ext cx="4519" cy="400652"/>
          </a:xfrm>
          <a:prstGeom prst="line">
            <a:avLst/>
          </a:prstGeom>
          <a:ln w="38100">
            <a:solidFill>
              <a:srgbClr val="49220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7" name="Group 326"/>
          <p:cNvGrpSpPr/>
          <p:nvPr/>
        </p:nvGrpSpPr>
        <p:grpSpPr>
          <a:xfrm rot="4599317">
            <a:off x="1594958" y="3388850"/>
            <a:ext cx="281090" cy="281090"/>
            <a:chOff x="2836912" y="3174001"/>
            <a:chExt cx="377756" cy="377756"/>
          </a:xfrm>
        </p:grpSpPr>
        <p:sp>
          <p:nvSpPr>
            <p:cNvPr id="328" name="Oval 327"/>
            <p:cNvSpPr/>
            <p:nvPr/>
          </p:nvSpPr>
          <p:spPr>
            <a:xfrm>
              <a:off x="2836912" y="3174001"/>
              <a:ext cx="377756" cy="377756"/>
            </a:xfrm>
            <a:prstGeom prst="ellipse">
              <a:avLst/>
            </a:prstGeom>
            <a:solidFill>
              <a:srgbClr val="492207"/>
            </a:solidFill>
            <a:ln w="57150">
              <a:solidFill>
                <a:srgbClr val="000000">
                  <a:alpha val="30196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9" name="Oval 328"/>
            <p:cNvSpPr/>
            <p:nvPr/>
          </p:nvSpPr>
          <p:spPr>
            <a:xfrm>
              <a:off x="2924781" y="3280114"/>
              <a:ext cx="45720" cy="45720"/>
            </a:xfrm>
            <a:prstGeom prst="ellipse">
              <a:avLst/>
            </a:prstGeom>
            <a:solidFill>
              <a:srgbClr val="000000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30" name="Group 329"/>
          <p:cNvGrpSpPr/>
          <p:nvPr/>
        </p:nvGrpSpPr>
        <p:grpSpPr>
          <a:xfrm>
            <a:off x="4150871" y="2996539"/>
            <a:ext cx="1193283" cy="1882656"/>
            <a:chOff x="4045394" y="3424269"/>
            <a:chExt cx="1053212" cy="1661662"/>
          </a:xfrm>
        </p:grpSpPr>
        <p:grpSp>
          <p:nvGrpSpPr>
            <p:cNvPr id="331" name="Group 330"/>
            <p:cNvGrpSpPr/>
            <p:nvPr/>
          </p:nvGrpSpPr>
          <p:grpSpPr>
            <a:xfrm>
              <a:off x="4045394" y="3424269"/>
              <a:ext cx="1053212" cy="1661662"/>
              <a:chOff x="4045394" y="3424269"/>
              <a:chExt cx="1053212" cy="1661662"/>
            </a:xfrm>
          </p:grpSpPr>
          <p:grpSp>
            <p:nvGrpSpPr>
              <p:cNvPr id="334" name="Group 333"/>
              <p:cNvGrpSpPr/>
              <p:nvPr/>
            </p:nvGrpSpPr>
            <p:grpSpPr>
              <a:xfrm>
                <a:off x="4045394" y="3424269"/>
                <a:ext cx="1053212" cy="1661662"/>
                <a:chOff x="4045394" y="3424269"/>
                <a:chExt cx="1053212" cy="1661662"/>
              </a:xfrm>
            </p:grpSpPr>
            <p:grpSp>
              <p:nvGrpSpPr>
                <p:cNvPr id="344" name="Group 343"/>
                <p:cNvGrpSpPr/>
                <p:nvPr/>
              </p:nvGrpSpPr>
              <p:grpSpPr>
                <a:xfrm>
                  <a:off x="4045394" y="3424269"/>
                  <a:ext cx="1053212" cy="1661662"/>
                  <a:chOff x="4045394" y="3424269"/>
                  <a:chExt cx="1053212" cy="1661662"/>
                </a:xfrm>
              </p:grpSpPr>
              <p:grpSp>
                <p:nvGrpSpPr>
                  <p:cNvPr id="349" name="Group 348"/>
                  <p:cNvGrpSpPr/>
                  <p:nvPr/>
                </p:nvGrpSpPr>
                <p:grpSpPr>
                  <a:xfrm>
                    <a:off x="4045394" y="3424269"/>
                    <a:ext cx="1053212" cy="1661662"/>
                    <a:chOff x="4045394" y="3424269"/>
                    <a:chExt cx="1053212" cy="1661662"/>
                  </a:xfrm>
                </p:grpSpPr>
                <p:grpSp>
                  <p:nvGrpSpPr>
                    <p:cNvPr id="351" name="Group 350"/>
                    <p:cNvGrpSpPr/>
                    <p:nvPr/>
                  </p:nvGrpSpPr>
                  <p:grpSpPr>
                    <a:xfrm>
                      <a:off x="4045394" y="3424269"/>
                      <a:ext cx="1053212" cy="1661662"/>
                      <a:chOff x="4045394" y="3424269"/>
                      <a:chExt cx="1053212" cy="1661662"/>
                    </a:xfrm>
                  </p:grpSpPr>
                  <p:sp>
                    <p:nvSpPr>
                      <p:cNvPr id="354" name="Rectangle 353"/>
                      <p:cNvSpPr/>
                      <p:nvPr/>
                    </p:nvSpPr>
                    <p:spPr>
                      <a:xfrm>
                        <a:off x="4045394" y="3424269"/>
                        <a:ext cx="1053212" cy="1661662"/>
                      </a:xfrm>
                      <a:prstGeom prst="rect">
                        <a:avLst/>
                      </a:prstGeom>
                      <a:solidFill>
                        <a:srgbClr val="600000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355" name="Rectangle 354"/>
                      <p:cNvSpPr/>
                      <p:nvPr/>
                    </p:nvSpPr>
                    <p:spPr>
                      <a:xfrm>
                        <a:off x="4095844" y="3479800"/>
                        <a:ext cx="941858" cy="1560382"/>
                      </a:xfrm>
                      <a:prstGeom prst="rect">
                        <a:avLst/>
                      </a:prstGeom>
                      <a:solidFill>
                        <a:srgbClr val="7E0000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sp>
                  <p:nvSpPr>
                    <p:cNvPr id="352" name="Flowchart: Decision 351"/>
                    <p:cNvSpPr/>
                    <p:nvPr/>
                  </p:nvSpPr>
                  <p:spPr>
                    <a:xfrm>
                      <a:off x="4286448" y="3689424"/>
                      <a:ext cx="557750" cy="1147353"/>
                    </a:xfrm>
                    <a:prstGeom prst="flowChartDecision">
                      <a:avLst/>
                    </a:prstGeom>
                    <a:solidFill>
                      <a:srgbClr val="60000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353" name="Flowchart: Decision 352"/>
                    <p:cNvSpPr/>
                    <p:nvPr/>
                  </p:nvSpPr>
                  <p:spPr>
                    <a:xfrm>
                      <a:off x="4340958" y="3778230"/>
                      <a:ext cx="454128" cy="975257"/>
                    </a:xfrm>
                    <a:prstGeom prst="flowChartDecision">
                      <a:avLst/>
                    </a:prstGeom>
                    <a:solidFill>
                      <a:srgbClr val="A4000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sp>
                <p:nvSpPr>
                  <p:cNvPr id="350" name="Decagon 349"/>
                  <p:cNvSpPr/>
                  <p:nvPr/>
                </p:nvSpPr>
                <p:spPr>
                  <a:xfrm>
                    <a:off x="4419198" y="4118285"/>
                    <a:ext cx="303176" cy="299435"/>
                  </a:xfrm>
                  <a:prstGeom prst="decagon">
                    <a:avLst/>
                  </a:prstGeom>
                  <a:solidFill>
                    <a:srgbClr val="7F6000">
                      <a:alpha val="69804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345" name="L-Shape 344"/>
                <p:cNvSpPr/>
                <p:nvPr/>
              </p:nvSpPr>
              <p:spPr>
                <a:xfrm>
                  <a:off x="4095844" y="4779648"/>
                  <a:ext cx="260534" cy="260534"/>
                </a:xfrm>
                <a:prstGeom prst="corner">
                  <a:avLst/>
                </a:prstGeom>
                <a:solidFill>
                  <a:srgbClr val="7F6000">
                    <a:alpha val="69804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46" name="L-Shape 345"/>
                <p:cNvSpPr/>
                <p:nvPr/>
              </p:nvSpPr>
              <p:spPr>
                <a:xfrm rot="16200000">
                  <a:off x="4772311" y="4779648"/>
                  <a:ext cx="260534" cy="260534"/>
                </a:xfrm>
                <a:prstGeom prst="corner">
                  <a:avLst/>
                </a:prstGeom>
                <a:solidFill>
                  <a:srgbClr val="7F6000">
                    <a:alpha val="69804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47" name="L-Shape 346"/>
                <p:cNvSpPr/>
                <p:nvPr/>
              </p:nvSpPr>
              <p:spPr>
                <a:xfrm rot="10800000">
                  <a:off x="4779138" y="3476808"/>
                  <a:ext cx="260534" cy="260534"/>
                </a:xfrm>
                <a:prstGeom prst="corner">
                  <a:avLst/>
                </a:prstGeom>
                <a:solidFill>
                  <a:srgbClr val="7F6000">
                    <a:alpha val="69804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48" name="L-Shape 347"/>
                <p:cNvSpPr/>
                <p:nvPr/>
              </p:nvSpPr>
              <p:spPr>
                <a:xfrm rot="5400000">
                  <a:off x="4102671" y="3476808"/>
                  <a:ext cx="260534" cy="260534"/>
                </a:xfrm>
                <a:prstGeom prst="corner">
                  <a:avLst/>
                </a:prstGeom>
                <a:solidFill>
                  <a:srgbClr val="7F6000">
                    <a:alpha val="69804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35" name="Oval 334"/>
              <p:cNvSpPr/>
              <p:nvPr/>
            </p:nvSpPr>
            <p:spPr>
              <a:xfrm>
                <a:off x="4480181" y="4180718"/>
                <a:ext cx="179805" cy="179807"/>
              </a:xfrm>
              <a:prstGeom prst="ellipse">
                <a:avLst/>
              </a:prstGeom>
              <a:solidFill>
                <a:srgbClr val="000000">
                  <a:alpha val="3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6" name="Oval 335"/>
              <p:cNvSpPr/>
              <p:nvPr/>
            </p:nvSpPr>
            <p:spPr>
              <a:xfrm>
                <a:off x="4819502" y="3529691"/>
                <a:ext cx="179806" cy="179806"/>
              </a:xfrm>
              <a:prstGeom prst="ellipse">
                <a:avLst/>
              </a:prstGeom>
              <a:solidFill>
                <a:srgbClr val="000000">
                  <a:alpha val="3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7" name="Oval 336"/>
              <p:cNvSpPr/>
              <p:nvPr/>
            </p:nvSpPr>
            <p:spPr>
              <a:xfrm>
                <a:off x="4152342" y="3520073"/>
                <a:ext cx="179806" cy="179806"/>
              </a:xfrm>
              <a:prstGeom prst="ellipse">
                <a:avLst/>
              </a:prstGeom>
              <a:solidFill>
                <a:srgbClr val="000000">
                  <a:alpha val="3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8" name="Oval 337"/>
              <p:cNvSpPr/>
              <p:nvPr/>
            </p:nvSpPr>
            <p:spPr>
              <a:xfrm>
                <a:off x="4809764" y="4830666"/>
                <a:ext cx="179805" cy="179807"/>
              </a:xfrm>
              <a:prstGeom prst="ellipse">
                <a:avLst/>
              </a:prstGeom>
              <a:solidFill>
                <a:srgbClr val="000000">
                  <a:alpha val="3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9" name="Oval 338"/>
              <p:cNvSpPr/>
              <p:nvPr/>
            </p:nvSpPr>
            <p:spPr>
              <a:xfrm>
                <a:off x="4142604" y="4821048"/>
                <a:ext cx="179805" cy="179807"/>
              </a:xfrm>
              <a:prstGeom prst="ellipse">
                <a:avLst/>
              </a:prstGeom>
              <a:solidFill>
                <a:srgbClr val="000000">
                  <a:alpha val="3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0" name="Oval 339"/>
              <p:cNvSpPr/>
              <p:nvPr/>
            </p:nvSpPr>
            <p:spPr>
              <a:xfrm>
                <a:off x="4248978" y="4013294"/>
                <a:ext cx="103054" cy="103054"/>
              </a:xfrm>
              <a:prstGeom prst="ellipse">
                <a:avLst/>
              </a:prstGeom>
              <a:solidFill>
                <a:srgbClr val="000000">
                  <a:alpha val="60000"/>
                </a:srgbClr>
              </a:solidFill>
              <a:ln>
                <a:solidFill>
                  <a:srgbClr val="7F6000">
                    <a:alpha val="60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6" name="Oval 355"/>
              <p:cNvSpPr/>
              <p:nvPr/>
            </p:nvSpPr>
            <p:spPr>
              <a:xfrm>
                <a:off x="4369781" y="3745246"/>
                <a:ext cx="103054" cy="103054"/>
              </a:xfrm>
              <a:prstGeom prst="ellipse">
                <a:avLst/>
              </a:prstGeom>
              <a:solidFill>
                <a:srgbClr val="000000">
                  <a:alpha val="60000"/>
                </a:srgbClr>
              </a:solidFill>
              <a:ln>
                <a:solidFill>
                  <a:srgbClr val="7F6000">
                    <a:alpha val="60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7" name="Oval 356"/>
              <p:cNvSpPr/>
              <p:nvPr/>
            </p:nvSpPr>
            <p:spPr>
              <a:xfrm>
                <a:off x="4770417" y="4013294"/>
                <a:ext cx="103054" cy="103054"/>
              </a:xfrm>
              <a:prstGeom prst="ellipse">
                <a:avLst/>
              </a:prstGeom>
              <a:solidFill>
                <a:srgbClr val="000000">
                  <a:alpha val="60000"/>
                </a:srgbClr>
              </a:solidFill>
              <a:ln>
                <a:solidFill>
                  <a:srgbClr val="7F6000">
                    <a:alpha val="60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8" name="Oval 357"/>
              <p:cNvSpPr/>
              <p:nvPr/>
            </p:nvSpPr>
            <p:spPr>
              <a:xfrm>
                <a:off x="4660292" y="3745246"/>
                <a:ext cx="103054" cy="103054"/>
              </a:xfrm>
              <a:prstGeom prst="ellipse">
                <a:avLst/>
              </a:prstGeom>
              <a:solidFill>
                <a:srgbClr val="000000">
                  <a:alpha val="60000"/>
                </a:srgbClr>
              </a:solidFill>
              <a:ln>
                <a:solidFill>
                  <a:srgbClr val="7F6000">
                    <a:alpha val="60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9" name="Oval 358"/>
              <p:cNvSpPr/>
              <p:nvPr/>
            </p:nvSpPr>
            <p:spPr>
              <a:xfrm>
                <a:off x="4248978" y="4407080"/>
                <a:ext cx="103054" cy="103054"/>
              </a:xfrm>
              <a:prstGeom prst="ellipse">
                <a:avLst/>
              </a:prstGeom>
              <a:solidFill>
                <a:srgbClr val="000000">
                  <a:alpha val="60000"/>
                </a:srgbClr>
              </a:solidFill>
              <a:ln>
                <a:solidFill>
                  <a:srgbClr val="7F6000">
                    <a:alpha val="60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0" name="Oval 359"/>
              <p:cNvSpPr/>
              <p:nvPr/>
            </p:nvSpPr>
            <p:spPr>
              <a:xfrm>
                <a:off x="4770417" y="4407080"/>
                <a:ext cx="103054" cy="103054"/>
              </a:xfrm>
              <a:prstGeom prst="ellipse">
                <a:avLst/>
              </a:prstGeom>
              <a:solidFill>
                <a:srgbClr val="000000">
                  <a:alpha val="60000"/>
                </a:srgbClr>
              </a:solidFill>
              <a:ln>
                <a:solidFill>
                  <a:srgbClr val="7F6000">
                    <a:alpha val="60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1" name="Oval 360"/>
              <p:cNvSpPr/>
              <p:nvPr/>
            </p:nvSpPr>
            <p:spPr>
              <a:xfrm>
                <a:off x="4369781" y="4650433"/>
                <a:ext cx="103054" cy="103054"/>
              </a:xfrm>
              <a:prstGeom prst="ellipse">
                <a:avLst/>
              </a:prstGeom>
              <a:solidFill>
                <a:srgbClr val="000000">
                  <a:alpha val="60000"/>
                </a:srgbClr>
              </a:solidFill>
              <a:ln>
                <a:solidFill>
                  <a:srgbClr val="7F6000">
                    <a:alpha val="60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2" name="Oval 361"/>
              <p:cNvSpPr/>
              <p:nvPr/>
            </p:nvSpPr>
            <p:spPr>
              <a:xfrm>
                <a:off x="4660292" y="4650433"/>
                <a:ext cx="103054" cy="103054"/>
              </a:xfrm>
              <a:prstGeom prst="ellipse">
                <a:avLst/>
              </a:prstGeom>
              <a:solidFill>
                <a:srgbClr val="000000">
                  <a:alpha val="60000"/>
                </a:srgbClr>
              </a:solidFill>
              <a:ln>
                <a:solidFill>
                  <a:srgbClr val="7F6000">
                    <a:alpha val="60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32" name="Rectangle 331"/>
            <p:cNvSpPr/>
            <p:nvPr/>
          </p:nvSpPr>
          <p:spPr>
            <a:xfrm>
              <a:off x="4921326" y="3800488"/>
              <a:ext cx="118345" cy="954704"/>
            </a:xfrm>
            <a:prstGeom prst="rect">
              <a:avLst/>
            </a:prstGeom>
            <a:solidFill>
              <a:srgbClr val="7F6000">
                <a:alpha val="2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3" name="Rectangle 332"/>
            <p:cNvSpPr/>
            <p:nvPr/>
          </p:nvSpPr>
          <p:spPr>
            <a:xfrm>
              <a:off x="4095845" y="3800489"/>
              <a:ext cx="118345" cy="954705"/>
            </a:xfrm>
            <a:prstGeom prst="rect">
              <a:avLst/>
            </a:prstGeom>
            <a:solidFill>
              <a:srgbClr val="7F6000">
                <a:alpha val="2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3" name="Group 362"/>
          <p:cNvGrpSpPr/>
          <p:nvPr/>
        </p:nvGrpSpPr>
        <p:grpSpPr>
          <a:xfrm>
            <a:off x="385545" y="2199922"/>
            <a:ext cx="960865" cy="1515967"/>
            <a:chOff x="4045394" y="3424269"/>
            <a:chExt cx="1053212" cy="1661662"/>
          </a:xfrm>
        </p:grpSpPr>
        <p:grpSp>
          <p:nvGrpSpPr>
            <p:cNvPr id="364" name="Group 363"/>
            <p:cNvGrpSpPr/>
            <p:nvPr/>
          </p:nvGrpSpPr>
          <p:grpSpPr>
            <a:xfrm>
              <a:off x="4045394" y="3424269"/>
              <a:ext cx="1053212" cy="1661662"/>
              <a:chOff x="4045394" y="3424269"/>
              <a:chExt cx="1053212" cy="1661662"/>
            </a:xfrm>
          </p:grpSpPr>
          <p:grpSp>
            <p:nvGrpSpPr>
              <p:cNvPr id="367" name="Group 366"/>
              <p:cNvGrpSpPr/>
              <p:nvPr/>
            </p:nvGrpSpPr>
            <p:grpSpPr>
              <a:xfrm>
                <a:off x="4045394" y="3424269"/>
                <a:ext cx="1053212" cy="1661662"/>
                <a:chOff x="4045394" y="3424269"/>
                <a:chExt cx="1053212" cy="1661662"/>
              </a:xfrm>
            </p:grpSpPr>
            <p:grpSp>
              <p:nvGrpSpPr>
                <p:cNvPr id="377" name="Group 376"/>
                <p:cNvGrpSpPr/>
                <p:nvPr/>
              </p:nvGrpSpPr>
              <p:grpSpPr>
                <a:xfrm>
                  <a:off x="4045394" y="3424269"/>
                  <a:ext cx="1053212" cy="1661662"/>
                  <a:chOff x="4045394" y="3424269"/>
                  <a:chExt cx="1053212" cy="1661662"/>
                </a:xfrm>
              </p:grpSpPr>
              <p:grpSp>
                <p:nvGrpSpPr>
                  <p:cNvPr id="382" name="Group 381"/>
                  <p:cNvGrpSpPr/>
                  <p:nvPr/>
                </p:nvGrpSpPr>
                <p:grpSpPr>
                  <a:xfrm>
                    <a:off x="4045394" y="3424269"/>
                    <a:ext cx="1053212" cy="1661662"/>
                    <a:chOff x="4045394" y="3424269"/>
                    <a:chExt cx="1053212" cy="1661662"/>
                  </a:xfrm>
                </p:grpSpPr>
                <p:grpSp>
                  <p:nvGrpSpPr>
                    <p:cNvPr id="384" name="Group 383"/>
                    <p:cNvGrpSpPr/>
                    <p:nvPr/>
                  </p:nvGrpSpPr>
                  <p:grpSpPr>
                    <a:xfrm>
                      <a:off x="4045394" y="3424269"/>
                      <a:ext cx="1053212" cy="1661662"/>
                      <a:chOff x="4045394" y="3424269"/>
                      <a:chExt cx="1053212" cy="1661662"/>
                    </a:xfrm>
                  </p:grpSpPr>
                  <p:sp>
                    <p:nvSpPr>
                      <p:cNvPr id="387" name="Rectangle 386"/>
                      <p:cNvSpPr/>
                      <p:nvPr/>
                    </p:nvSpPr>
                    <p:spPr>
                      <a:xfrm>
                        <a:off x="4045394" y="3424269"/>
                        <a:ext cx="1053212" cy="1661662"/>
                      </a:xfrm>
                      <a:prstGeom prst="rect">
                        <a:avLst/>
                      </a:prstGeom>
                      <a:solidFill>
                        <a:srgbClr val="600000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388" name="Rectangle 387"/>
                      <p:cNvSpPr/>
                      <p:nvPr/>
                    </p:nvSpPr>
                    <p:spPr>
                      <a:xfrm>
                        <a:off x="4095844" y="3479800"/>
                        <a:ext cx="941858" cy="1560382"/>
                      </a:xfrm>
                      <a:prstGeom prst="rect">
                        <a:avLst/>
                      </a:prstGeom>
                      <a:solidFill>
                        <a:srgbClr val="7E0000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sp>
                  <p:nvSpPr>
                    <p:cNvPr id="385" name="Flowchart: Decision 384"/>
                    <p:cNvSpPr/>
                    <p:nvPr/>
                  </p:nvSpPr>
                  <p:spPr>
                    <a:xfrm>
                      <a:off x="4286448" y="3689424"/>
                      <a:ext cx="557750" cy="1147353"/>
                    </a:xfrm>
                    <a:prstGeom prst="flowChartDecision">
                      <a:avLst/>
                    </a:prstGeom>
                    <a:solidFill>
                      <a:srgbClr val="60000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386" name="Flowchart: Decision 385"/>
                    <p:cNvSpPr/>
                    <p:nvPr/>
                  </p:nvSpPr>
                  <p:spPr>
                    <a:xfrm>
                      <a:off x="4340958" y="3778230"/>
                      <a:ext cx="454128" cy="975257"/>
                    </a:xfrm>
                    <a:prstGeom prst="flowChartDecision">
                      <a:avLst/>
                    </a:prstGeom>
                    <a:solidFill>
                      <a:srgbClr val="A4000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sp>
                <p:nvSpPr>
                  <p:cNvPr id="383" name="Decagon 382"/>
                  <p:cNvSpPr/>
                  <p:nvPr/>
                </p:nvSpPr>
                <p:spPr>
                  <a:xfrm>
                    <a:off x="4419198" y="4118285"/>
                    <a:ext cx="303176" cy="299435"/>
                  </a:xfrm>
                  <a:prstGeom prst="decagon">
                    <a:avLst/>
                  </a:prstGeom>
                  <a:solidFill>
                    <a:srgbClr val="7F6000">
                      <a:alpha val="69804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378" name="L-Shape 377"/>
                <p:cNvSpPr/>
                <p:nvPr/>
              </p:nvSpPr>
              <p:spPr>
                <a:xfrm>
                  <a:off x="4095844" y="4779648"/>
                  <a:ext cx="260534" cy="260534"/>
                </a:xfrm>
                <a:prstGeom prst="corner">
                  <a:avLst/>
                </a:prstGeom>
                <a:solidFill>
                  <a:srgbClr val="7F6000">
                    <a:alpha val="69804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9" name="L-Shape 378"/>
                <p:cNvSpPr/>
                <p:nvPr/>
              </p:nvSpPr>
              <p:spPr>
                <a:xfrm rot="16200000">
                  <a:off x="4772311" y="4779648"/>
                  <a:ext cx="260534" cy="260534"/>
                </a:xfrm>
                <a:prstGeom prst="corner">
                  <a:avLst/>
                </a:prstGeom>
                <a:solidFill>
                  <a:srgbClr val="7F6000">
                    <a:alpha val="69804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0" name="L-Shape 379"/>
                <p:cNvSpPr/>
                <p:nvPr/>
              </p:nvSpPr>
              <p:spPr>
                <a:xfrm rot="10800000">
                  <a:off x="4779138" y="3476808"/>
                  <a:ext cx="260534" cy="260534"/>
                </a:xfrm>
                <a:prstGeom prst="corner">
                  <a:avLst/>
                </a:prstGeom>
                <a:solidFill>
                  <a:srgbClr val="7F6000">
                    <a:alpha val="69804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1" name="L-Shape 380"/>
                <p:cNvSpPr/>
                <p:nvPr/>
              </p:nvSpPr>
              <p:spPr>
                <a:xfrm rot="5400000">
                  <a:off x="4102671" y="3476808"/>
                  <a:ext cx="260534" cy="260534"/>
                </a:xfrm>
                <a:prstGeom prst="corner">
                  <a:avLst/>
                </a:prstGeom>
                <a:solidFill>
                  <a:srgbClr val="7F6000">
                    <a:alpha val="69804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68" name="Oval 367"/>
              <p:cNvSpPr/>
              <p:nvPr/>
            </p:nvSpPr>
            <p:spPr>
              <a:xfrm>
                <a:off x="4480181" y="4180718"/>
                <a:ext cx="179805" cy="179807"/>
              </a:xfrm>
              <a:prstGeom prst="ellipse">
                <a:avLst/>
              </a:prstGeom>
              <a:solidFill>
                <a:srgbClr val="000000">
                  <a:alpha val="3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9" name="Oval 368"/>
              <p:cNvSpPr/>
              <p:nvPr/>
            </p:nvSpPr>
            <p:spPr>
              <a:xfrm>
                <a:off x="4819502" y="3529691"/>
                <a:ext cx="179806" cy="179806"/>
              </a:xfrm>
              <a:prstGeom prst="ellipse">
                <a:avLst/>
              </a:prstGeom>
              <a:solidFill>
                <a:srgbClr val="000000">
                  <a:alpha val="3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0" name="Oval 369"/>
              <p:cNvSpPr/>
              <p:nvPr/>
            </p:nvSpPr>
            <p:spPr>
              <a:xfrm>
                <a:off x="4152342" y="3520073"/>
                <a:ext cx="179806" cy="179806"/>
              </a:xfrm>
              <a:prstGeom prst="ellipse">
                <a:avLst/>
              </a:prstGeom>
              <a:solidFill>
                <a:srgbClr val="000000">
                  <a:alpha val="3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1" name="Oval 370"/>
              <p:cNvSpPr/>
              <p:nvPr/>
            </p:nvSpPr>
            <p:spPr>
              <a:xfrm>
                <a:off x="4809764" y="4830666"/>
                <a:ext cx="179805" cy="179807"/>
              </a:xfrm>
              <a:prstGeom prst="ellipse">
                <a:avLst/>
              </a:prstGeom>
              <a:solidFill>
                <a:srgbClr val="000000">
                  <a:alpha val="3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2" name="Oval 371"/>
              <p:cNvSpPr/>
              <p:nvPr/>
            </p:nvSpPr>
            <p:spPr>
              <a:xfrm>
                <a:off x="4142604" y="4821048"/>
                <a:ext cx="179805" cy="179807"/>
              </a:xfrm>
              <a:prstGeom prst="ellipse">
                <a:avLst/>
              </a:prstGeom>
              <a:solidFill>
                <a:srgbClr val="000000">
                  <a:alpha val="3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3" name="Oval 372"/>
              <p:cNvSpPr/>
              <p:nvPr/>
            </p:nvSpPr>
            <p:spPr>
              <a:xfrm>
                <a:off x="4286102" y="3783596"/>
                <a:ext cx="103054" cy="103054"/>
              </a:xfrm>
              <a:prstGeom prst="ellipse">
                <a:avLst/>
              </a:prstGeom>
              <a:solidFill>
                <a:srgbClr val="000000">
                  <a:alpha val="60000"/>
                </a:srgbClr>
              </a:solidFill>
              <a:ln>
                <a:solidFill>
                  <a:srgbClr val="7F6000">
                    <a:alpha val="60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4" name="Oval 373"/>
              <p:cNvSpPr/>
              <p:nvPr/>
            </p:nvSpPr>
            <p:spPr>
              <a:xfrm>
                <a:off x="4756890" y="3786700"/>
                <a:ext cx="103054" cy="103054"/>
              </a:xfrm>
              <a:prstGeom prst="ellipse">
                <a:avLst/>
              </a:prstGeom>
              <a:solidFill>
                <a:srgbClr val="000000">
                  <a:alpha val="60000"/>
                </a:srgbClr>
              </a:solidFill>
              <a:ln>
                <a:solidFill>
                  <a:srgbClr val="7F6000">
                    <a:alpha val="60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5" name="Oval 374"/>
              <p:cNvSpPr/>
              <p:nvPr/>
            </p:nvSpPr>
            <p:spPr>
              <a:xfrm>
                <a:off x="4284052" y="4652186"/>
                <a:ext cx="103053" cy="103053"/>
              </a:xfrm>
              <a:prstGeom prst="ellipse">
                <a:avLst/>
              </a:prstGeom>
              <a:solidFill>
                <a:srgbClr val="000000">
                  <a:alpha val="60000"/>
                </a:srgbClr>
              </a:solidFill>
              <a:ln>
                <a:solidFill>
                  <a:srgbClr val="7F6000">
                    <a:alpha val="60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6" name="Oval 375"/>
              <p:cNvSpPr/>
              <p:nvPr/>
            </p:nvSpPr>
            <p:spPr>
              <a:xfrm>
                <a:off x="4754840" y="4655290"/>
                <a:ext cx="103053" cy="103053"/>
              </a:xfrm>
              <a:prstGeom prst="ellipse">
                <a:avLst/>
              </a:prstGeom>
              <a:solidFill>
                <a:srgbClr val="000000">
                  <a:alpha val="60000"/>
                </a:srgbClr>
              </a:solidFill>
              <a:ln>
                <a:solidFill>
                  <a:srgbClr val="7F6000">
                    <a:alpha val="60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65" name="Rectangle 364"/>
            <p:cNvSpPr/>
            <p:nvPr/>
          </p:nvSpPr>
          <p:spPr>
            <a:xfrm>
              <a:off x="4921326" y="3800488"/>
              <a:ext cx="118345" cy="954704"/>
            </a:xfrm>
            <a:prstGeom prst="rect">
              <a:avLst/>
            </a:prstGeom>
            <a:solidFill>
              <a:srgbClr val="7F6000">
                <a:alpha val="2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6" name="Rectangle 365"/>
            <p:cNvSpPr/>
            <p:nvPr/>
          </p:nvSpPr>
          <p:spPr>
            <a:xfrm>
              <a:off x="4095845" y="3800489"/>
              <a:ext cx="118345" cy="954705"/>
            </a:xfrm>
            <a:prstGeom prst="rect">
              <a:avLst/>
            </a:prstGeom>
            <a:solidFill>
              <a:srgbClr val="7F6000">
                <a:alpha val="2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9" name="Rectangle 388"/>
          <p:cNvSpPr/>
          <p:nvPr/>
        </p:nvSpPr>
        <p:spPr>
          <a:xfrm rot="16200000">
            <a:off x="-536218" y="2729599"/>
            <a:ext cx="1283232" cy="206032"/>
          </a:xfrm>
          <a:prstGeom prst="rect">
            <a:avLst/>
          </a:prstGeom>
          <a:solidFill>
            <a:srgbClr val="4922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1200" dirty="0" smtClean="0">
                <a:solidFill>
                  <a:srgbClr val="622E0A"/>
                </a:solidFill>
                <a:latin typeface="Libre Baskerville" panose="02000000000000000000" pitchFamily="2" charset="0"/>
              </a:rPr>
              <a:t>Dining Area</a:t>
            </a:r>
            <a:endParaRPr lang="en-US" sz="1200" dirty="0">
              <a:solidFill>
                <a:srgbClr val="622E0A"/>
              </a:solidFill>
              <a:latin typeface="Libre Baskerville" panose="02000000000000000000" pitchFamily="2" charset="0"/>
            </a:endParaRPr>
          </a:p>
        </p:txBody>
      </p:sp>
      <p:grpSp>
        <p:nvGrpSpPr>
          <p:cNvPr id="393" name="Group 392"/>
          <p:cNvGrpSpPr/>
          <p:nvPr/>
        </p:nvGrpSpPr>
        <p:grpSpPr>
          <a:xfrm rot="16200000">
            <a:off x="278286" y="1826476"/>
            <a:ext cx="294854" cy="368561"/>
            <a:chOff x="2840254" y="2042961"/>
            <a:chExt cx="375115" cy="468886"/>
          </a:xfrm>
        </p:grpSpPr>
        <p:sp>
          <p:nvSpPr>
            <p:cNvPr id="394" name="Rounded Rectangle 393"/>
            <p:cNvSpPr/>
            <p:nvPr/>
          </p:nvSpPr>
          <p:spPr>
            <a:xfrm>
              <a:off x="2840254" y="2042961"/>
              <a:ext cx="375115" cy="468886"/>
            </a:xfrm>
            <a:prstGeom prst="roundRect">
              <a:avLst/>
            </a:prstGeom>
            <a:solidFill>
              <a:srgbClr val="7E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5" name="Rounded Rectangle 394"/>
            <p:cNvSpPr/>
            <p:nvPr/>
          </p:nvSpPr>
          <p:spPr>
            <a:xfrm>
              <a:off x="3016430" y="2120404"/>
              <a:ext cx="169472" cy="317138"/>
            </a:xfrm>
            <a:prstGeom prst="roundRect">
              <a:avLst/>
            </a:prstGeom>
            <a:solidFill>
              <a:srgbClr val="000000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6" name="Rounded Rectangle 395"/>
            <p:cNvSpPr/>
            <p:nvPr/>
          </p:nvSpPr>
          <p:spPr>
            <a:xfrm>
              <a:off x="2876197" y="2455912"/>
              <a:ext cx="311241" cy="45719"/>
            </a:xfrm>
            <a:prstGeom prst="roundRect">
              <a:avLst/>
            </a:prstGeom>
            <a:solidFill>
              <a:srgbClr val="000000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7" name="Rounded Rectangle 396"/>
            <p:cNvSpPr/>
            <p:nvPr/>
          </p:nvSpPr>
          <p:spPr>
            <a:xfrm>
              <a:off x="2869622" y="2056432"/>
              <a:ext cx="311241" cy="45719"/>
            </a:xfrm>
            <a:prstGeom prst="roundRect">
              <a:avLst/>
            </a:prstGeom>
            <a:solidFill>
              <a:srgbClr val="000000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98" name="Rectangle 397"/>
          <p:cNvSpPr/>
          <p:nvPr/>
        </p:nvSpPr>
        <p:spPr>
          <a:xfrm>
            <a:off x="4116171" y="263645"/>
            <a:ext cx="846978" cy="376299"/>
          </a:xfrm>
          <a:prstGeom prst="rect">
            <a:avLst/>
          </a:prstGeom>
          <a:solidFill>
            <a:srgbClr val="4922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99" name="Group 398"/>
          <p:cNvGrpSpPr/>
          <p:nvPr/>
        </p:nvGrpSpPr>
        <p:grpSpPr>
          <a:xfrm>
            <a:off x="4144685" y="296217"/>
            <a:ext cx="178778" cy="182212"/>
            <a:chOff x="3476850" y="2598160"/>
            <a:chExt cx="178778" cy="182212"/>
          </a:xfrm>
        </p:grpSpPr>
        <p:sp>
          <p:nvSpPr>
            <p:cNvPr id="400" name="Oval 399"/>
            <p:cNvSpPr/>
            <p:nvPr/>
          </p:nvSpPr>
          <p:spPr>
            <a:xfrm>
              <a:off x="3567808" y="2598160"/>
              <a:ext cx="45720" cy="45720"/>
            </a:xfrm>
            <a:prstGeom prst="ellipse">
              <a:avLst/>
            </a:prstGeom>
            <a:solidFill>
              <a:srgbClr val="FFC000"/>
            </a:solidFill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1" name="Oval 400"/>
            <p:cNvSpPr/>
            <p:nvPr/>
          </p:nvSpPr>
          <p:spPr>
            <a:xfrm>
              <a:off x="3571428" y="2686633"/>
              <a:ext cx="84200" cy="84200"/>
            </a:xfrm>
            <a:prstGeom prst="ellipse">
              <a:avLst/>
            </a:prstGeom>
            <a:solidFill>
              <a:srgbClr val="FFC000"/>
            </a:solidFill>
            <a:ln w="57150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4" name="Oval 403"/>
            <p:cNvSpPr/>
            <p:nvPr/>
          </p:nvSpPr>
          <p:spPr>
            <a:xfrm>
              <a:off x="3492346" y="2643649"/>
              <a:ext cx="45720" cy="45720"/>
            </a:xfrm>
            <a:prstGeom prst="ellipse">
              <a:avLst/>
            </a:prstGeom>
            <a:solidFill>
              <a:srgbClr val="FFC000"/>
            </a:solidFill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9" name="Oval 418"/>
            <p:cNvSpPr/>
            <p:nvPr/>
          </p:nvSpPr>
          <p:spPr>
            <a:xfrm>
              <a:off x="3476850" y="2734652"/>
              <a:ext cx="45720" cy="45720"/>
            </a:xfrm>
            <a:prstGeom prst="ellipse">
              <a:avLst/>
            </a:prstGeom>
            <a:solidFill>
              <a:srgbClr val="FFC000"/>
            </a:solidFill>
            <a:ln w="28575">
              <a:solidFill>
                <a:schemeClr val="accent4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05" name="Group 404"/>
          <p:cNvGrpSpPr/>
          <p:nvPr/>
        </p:nvGrpSpPr>
        <p:grpSpPr>
          <a:xfrm>
            <a:off x="4518400" y="358353"/>
            <a:ext cx="166907" cy="152847"/>
            <a:chOff x="3909725" y="2706151"/>
            <a:chExt cx="166907" cy="152847"/>
          </a:xfrm>
        </p:grpSpPr>
        <p:grpSp>
          <p:nvGrpSpPr>
            <p:cNvPr id="406" name="Group 405"/>
            <p:cNvGrpSpPr/>
            <p:nvPr/>
          </p:nvGrpSpPr>
          <p:grpSpPr>
            <a:xfrm>
              <a:off x="3909725" y="2706151"/>
              <a:ext cx="166907" cy="152847"/>
              <a:chOff x="3909725" y="2706151"/>
              <a:chExt cx="166907" cy="152847"/>
            </a:xfrm>
          </p:grpSpPr>
          <p:grpSp>
            <p:nvGrpSpPr>
              <p:cNvPr id="409" name="Group 408"/>
              <p:cNvGrpSpPr/>
              <p:nvPr/>
            </p:nvGrpSpPr>
            <p:grpSpPr>
              <a:xfrm>
                <a:off x="3909725" y="2706151"/>
                <a:ext cx="166907" cy="152847"/>
                <a:chOff x="3909725" y="2706151"/>
                <a:chExt cx="166907" cy="152847"/>
              </a:xfrm>
            </p:grpSpPr>
            <p:grpSp>
              <p:nvGrpSpPr>
                <p:cNvPr id="411" name="Group 410"/>
                <p:cNvGrpSpPr/>
                <p:nvPr/>
              </p:nvGrpSpPr>
              <p:grpSpPr>
                <a:xfrm>
                  <a:off x="3909725" y="2706151"/>
                  <a:ext cx="166907" cy="152847"/>
                  <a:chOff x="3909725" y="2706151"/>
                  <a:chExt cx="166907" cy="152847"/>
                </a:xfrm>
              </p:grpSpPr>
              <p:grpSp>
                <p:nvGrpSpPr>
                  <p:cNvPr id="413" name="Group 412"/>
                  <p:cNvGrpSpPr/>
                  <p:nvPr/>
                </p:nvGrpSpPr>
                <p:grpSpPr>
                  <a:xfrm>
                    <a:off x="3909725" y="2706151"/>
                    <a:ext cx="166907" cy="152847"/>
                    <a:chOff x="3909725" y="2706151"/>
                    <a:chExt cx="166907" cy="152847"/>
                  </a:xfrm>
                </p:grpSpPr>
                <p:sp>
                  <p:nvSpPr>
                    <p:cNvPr id="415" name="Wave 414"/>
                    <p:cNvSpPr/>
                    <p:nvPr/>
                  </p:nvSpPr>
                  <p:spPr>
                    <a:xfrm rot="5400000">
                      <a:off x="3916755" y="2699121"/>
                      <a:ext cx="152847" cy="166907"/>
                    </a:xfrm>
                    <a:prstGeom prst="wave">
                      <a:avLst>
                        <a:gd name="adj1" fmla="val 4573"/>
                        <a:gd name="adj2" fmla="val 0"/>
                      </a:avLst>
                    </a:prstGeom>
                    <a:solidFill>
                      <a:schemeClr val="accent4">
                        <a:lumMod val="20000"/>
                        <a:lumOff val="80000"/>
                      </a:schemeClr>
                    </a:solidFill>
                    <a:ln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cxnSp>
                  <p:nvCxnSpPr>
                    <p:cNvPr id="416" name="Straight Connector 415"/>
                    <p:cNvCxnSpPr/>
                    <p:nvPr/>
                  </p:nvCxnSpPr>
                  <p:spPr>
                    <a:xfrm>
                      <a:off x="3948477" y="2802765"/>
                      <a:ext cx="94166" cy="0"/>
                    </a:xfrm>
                    <a:prstGeom prst="line">
                      <a:avLst/>
                    </a:prstGeom>
                    <a:ln>
                      <a:solidFill>
                        <a:schemeClr val="tx2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17" name="Straight Connector 416"/>
                    <p:cNvCxnSpPr/>
                    <p:nvPr/>
                  </p:nvCxnSpPr>
                  <p:spPr>
                    <a:xfrm>
                      <a:off x="4022297" y="2834279"/>
                      <a:ext cx="36000" cy="0"/>
                    </a:xfrm>
                    <a:prstGeom prst="line">
                      <a:avLst/>
                    </a:prstGeom>
                    <a:ln>
                      <a:solidFill>
                        <a:schemeClr val="tx2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18" name="Straight Connector 417"/>
                    <p:cNvCxnSpPr/>
                    <p:nvPr/>
                  </p:nvCxnSpPr>
                  <p:spPr>
                    <a:xfrm>
                      <a:off x="3948477" y="2836216"/>
                      <a:ext cx="36000" cy="0"/>
                    </a:xfrm>
                    <a:prstGeom prst="line">
                      <a:avLst/>
                    </a:prstGeom>
                    <a:ln>
                      <a:solidFill>
                        <a:schemeClr val="tx2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414" name="Straight Connector 413"/>
                  <p:cNvCxnSpPr/>
                  <p:nvPr/>
                </p:nvCxnSpPr>
                <p:spPr>
                  <a:xfrm>
                    <a:off x="3948477" y="2785335"/>
                    <a:ext cx="94166" cy="0"/>
                  </a:xfrm>
                  <a:prstGeom prst="line">
                    <a:avLst/>
                  </a:prstGeom>
                  <a:ln>
                    <a:solidFill>
                      <a:schemeClr val="tx2">
                        <a:lumMod val="75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412" name="Straight Connector 411"/>
                <p:cNvCxnSpPr/>
                <p:nvPr/>
              </p:nvCxnSpPr>
              <p:spPr>
                <a:xfrm>
                  <a:off x="3951228" y="2769984"/>
                  <a:ext cx="94166" cy="0"/>
                </a:xfrm>
                <a:prstGeom prst="line">
                  <a:avLst/>
                </a:prstGeom>
                <a:ln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10" name="Straight Connector 409"/>
              <p:cNvCxnSpPr/>
              <p:nvPr/>
            </p:nvCxnSpPr>
            <p:spPr>
              <a:xfrm>
                <a:off x="3951228" y="2752554"/>
                <a:ext cx="94166" cy="0"/>
              </a:xfrm>
              <a:prstGeom prst="line">
                <a:avLst/>
              </a:prstGeom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07" name="Straight Connector 406"/>
            <p:cNvCxnSpPr/>
            <p:nvPr/>
          </p:nvCxnSpPr>
          <p:spPr>
            <a:xfrm>
              <a:off x="3951228" y="2738470"/>
              <a:ext cx="94166" cy="0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Straight Connector 407"/>
            <p:cNvCxnSpPr/>
            <p:nvPr/>
          </p:nvCxnSpPr>
          <p:spPr>
            <a:xfrm>
              <a:off x="3951228" y="2721040"/>
              <a:ext cx="94166" cy="0"/>
            </a:xfrm>
            <a:prstGeom prst="line">
              <a:avLst/>
            </a:prstGeom>
            <a:ln>
              <a:solidFill>
                <a:schemeClr val="tx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0" name="Oval 299"/>
          <p:cNvSpPr/>
          <p:nvPr/>
        </p:nvSpPr>
        <p:spPr>
          <a:xfrm>
            <a:off x="5860831" y="295986"/>
            <a:ext cx="45720" cy="457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1" name="Oval 300"/>
          <p:cNvSpPr/>
          <p:nvPr/>
        </p:nvSpPr>
        <p:spPr>
          <a:xfrm>
            <a:off x="4712897" y="446205"/>
            <a:ext cx="45719" cy="45719"/>
          </a:xfrm>
          <a:prstGeom prst="ellipse">
            <a:avLst/>
          </a:prstGeom>
          <a:solidFill>
            <a:schemeClr val="bg2">
              <a:lumMod val="10000"/>
            </a:schemeClr>
          </a:solidFill>
          <a:ln w="190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794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0" name="Group 289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grpSp>
          <p:nvGrpSpPr>
            <p:cNvPr id="288" name="Group 287"/>
            <p:cNvGrpSpPr/>
            <p:nvPr/>
          </p:nvGrpSpPr>
          <p:grpSpPr>
            <a:xfrm>
              <a:off x="0" y="0"/>
              <a:ext cx="9144000" cy="5143500"/>
              <a:chOff x="0" y="0"/>
              <a:chExt cx="9144000" cy="5143500"/>
            </a:xfrm>
          </p:grpSpPr>
          <p:sp>
            <p:nvSpPr>
              <p:cNvPr id="6" name="Rectangle 5"/>
              <p:cNvSpPr/>
              <p:nvPr/>
            </p:nvSpPr>
            <p:spPr>
              <a:xfrm>
                <a:off x="0" y="0"/>
                <a:ext cx="9144000" cy="514350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7" name="Rectangle 286"/>
              <p:cNvSpPr/>
              <p:nvPr/>
            </p:nvSpPr>
            <p:spPr>
              <a:xfrm>
                <a:off x="209889" y="245553"/>
                <a:ext cx="8652116" cy="4660330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289" name="Picture 28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7182" y="244969"/>
              <a:ext cx="8650151" cy="4653562"/>
            </a:xfrm>
            <a:prstGeom prst="rect">
              <a:avLst/>
            </a:prstGeom>
          </p:spPr>
        </p:pic>
      </p:grpSp>
      <p:sp>
        <p:nvSpPr>
          <p:cNvPr id="5" name="Rectangle 4"/>
          <p:cNvSpPr/>
          <p:nvPr/>
        </p:nvSpPr>
        <p:spPr>
          <a:xfrm>
            <a:off x="4110038" y="4904432"/>
            <a:ext cx="1283232" cy="2390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1200" smtClean="0">
                <a:solidFill>
                  <a:schemeClr val="tx1"/>
                </a:solidFill>
                <a:latin typeface="Libre Baskerville" panose="02000000000000000000" pitchFamily="2" charset="0"/>
              </a:rPr>
              <a:t>Foyer</a:t>
            </a:r>
            <a:endParaRPr lang="en-US" sz="1200" dirty="0">
              <a:solidFill>
                <a:schemeClr val="tx1"/>
              </a:solidFill>
              <a:latin typeface="Libre Baskerville" panose="02000000000000000000" pitchFamily="2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280196" y="2575312"/>
            <a:ext cx="807917" cy="376299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7" name="Arc 46"/>
          <p:cNvSpPr/>
          <p:nvPr/>
        </p:nvSpPr>
        <p:spPr>
          <a:xfrm rot="5400000">
            <a:off x="1117216" y="1760812"/>
            <a:ext cx="767470" cy="860231"/>
          </a:xfrm>
          <a:prstGeom prst="arc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Arc 50"/>
          <p:cNvSpPr/>
          <p:nvPr/>
        </p:nvSpPr>
        <p:spPr>
          <a:xfrm>
            <a:off x="209888" y="1429631"/>
            <a:ext cx="893339" cy="728991"/>
          </a:xfrm>
          <a:prstGeom prst="arc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4972318" y="2572652"/>
            <a:ext cx="1310397" cy="376299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 smtClean="0">
                <a:solidFill>
                  <a:schemeClr val="tx1"/>
                </a:solidFill>
                <a:latin typeface="Libre Baskerville" panose="02000000000000000000" pitchFamily="2" charset="0"/>
              </a:rPr>
              <a:t>Bookcase</a:t>
            </a:r>
            <a:endParaRPr lang="en-US" dirty="0">
              <a:solidFill>
                <a:schemeClr val="tx1"/>
              </a:solidFill>
              <a:latin typeface="Libre Baskerville" panose="02000000000000000000" pitchFamily="2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395895" y="911753"/>
            <a:ext cx="9442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200" dirty="0" smtClean="0">
                <a:latin typeface="Libre Baskerville" panose="02000000000000000000" pitchFamily="2" charset="0"/>
              </a:rPr>
              <a:t>Kitchen</a:t>
            </a:r>
            <a:endParaRPr lang="en-US" sz="1200" dirty="0">
              <a:latin typeface="Libre Baskerville" panose="02000000000000000000" pitchFamily="2" charset="0"/>
            </a:endParaRPr>
          </a:p>
        </p:txBody>
      </p:sp>
      <p:sp>
        <p:nvSpPr>
          <p:cNvPr id="127" name="Rectangle 126"/>
          <p:cNvSpPr/>
          <p:nvPr/>
        </p:nvSpPr>
        <p:spPr>
          <a:xfrm>
            <a:off x="1956573" y="3344733"/>
            <a:ext cx="850256" cy="353257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 smtClean="0">
                <a:solidFill>
                  <a:schemeClr val="tx1"/>
                </a:solidFill>
                <a:latin typeface="Libre Baskerville" panose="02000000000000000000" pitchFamily="2" charset="0"/>
              </a:rPr>
              <a:t>Hearth</a:t>
            </a:r>
            <a:endParaRPr lang="en-US" dirty="0">
              <a:solidFill>
                <a:schemeClr val="tx1"/>
              </a:solidFill>
              <a:latin typeface="Libre Baskerville" panose="02000000000000000000" pitchFamily="2" charset="0"/>
            </a:endParaRPr>
          </a:p>
        </p:txBody>
      </p:sp>
      <p:sp>
        <p:nvSpPr>
          <p:cNvPr id="130" name="Arc 129"/>
          <p:cNvSpPr/>
          <p:nvPr/>
        </p:nvSpPr>
        <p:spPr>
          <a:xfrm rot="10800000">
            <a:off x="5844500" y="1439794"/>
            <a:ext cx="861100" cy="726985"/>
          </a:xfrm>
          <a:prstGeom prst="arc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TextBox 130"/>
          <p:cNvSpPr txBox="1"/>
          <p:nvPr/>
        </p:nvSpPr>
        <p:spPr>
          <a:xfrm>
            <a:off x="4254128" y="1533316"/>
            <a:ext cx="944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200" dirty="0" smtClean="0">
                <a:latin typeface="Libre Baskerville" panose="02000000000000000000" pitchFamily="2" charset="0"/>
              </a:rPr>
              <a:t>Large Bedroom</a:t>
            </a:r>
            <a:endParaRPr lang="en-US" sz="1200" dirty="0">
              <a:latin typeface="Libre Baskerville" panose="02000000000000000000" pitchFamily="2" charset="0"/>
            </a:endParaRPr>
          </a:p>
        </p:txBody>
      </p:sp>
      <p:grpSp>
        <p:nvGrpSpPr>
          <p:cNvPr id="60" name="Group 59"/>
          <p:cNvGrpSpPr/>
          <p:nvPr/>
        </p:nvGrpSpPr>
        <p:grpSpPr>
          <a:xfrm>
            <a:off x="5015145" y="268748"/>
            <a:ext cx="791983" cy="750490"/>
            <a:chOff x="4446420" y="349588"/>
            <a:chExt cx="1297188" cy="1229227"/>
          </a:xfrm>
        </p:grpSpPr>
        <p:grpSp>
          <p:nvGrpSpPr>
            <p:cNvPr id="134" name="Group 133"/>
            <p:cNvGrpSpPr/>
            <p:nvPr/>
          </p:nvGrpSpPr>
          <p:grpSpPr>
            <a:xfrm>
              <a:off x="4446420" y="349588"/>
              <a:ext cx="1297188" cy="1229227"/>
              <a:chOff x="4446420" y="349588"/>
              <a:chExt cx="1297188" cy="1229227"/>
            </a:xfrm>
          </p:grpSpPr>
          <p:sp>
            <p:nvSpPr>
              <p:cNvPr id="132" name="Rectangle 131"/>
              <p:cNvSpPr/>
              <p:nvPr/>
            </p:nvSpPr>
            <p:spPr>
              <a:xfrm>
                <a:off x="4446420" y="349588"/>
                <a:ext cx="1297188" cy="1229227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3" name="Rectangle 132"/>
              <p:cNvSpPr/>
              <p:nvPr/>
            </p:nvSpPr>
            <p:spPr>
              <a:xfrm>
                <a:off x="4488130" y="397914"/>
                <a:ext cx="1205532" cy="1125182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5" name="Rounded Rectangle 134"/>
            <p:cNvSpPr/>
            <p:nvPr/>
          </p:nvSpPr>
          <p:spPr>
            <a:xfrm>
              <a:off x="4547852" y="455883"/>
              <a:ext cx="517900" cy="309798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Rounded Rectangle 136"/>
            <p:cNvSpPr/>
            <p:nvPr/>
          </p:nvSpPr>
          <p:spPr>
            <a:xfrm>
              <a:off x="5124686" y="455883"/>
              <a:ext cx="517900" cy="309798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Rectangle 137"/>
            <p:cNvSpPr/>
            <p:nvPr/>
          </p:nvSpPr>
          <p:spPr>
            <a:xfrm>
              <a:off x="4488130" y="806717"/>
              <a:ext cx="1205532" cy="71637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9" name="Rectangle 138"/>
          <p:cNvSpPr/>
          <p:nvPr/>
        </p:nvSpPr>
        <p:spPr>
          <a:xfrm rot="16200000">
            <a:off x="2919732" y="1779975"/>
            <a:ext cx="1107173" cy="376299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 smtClean="0">
                <a:solidFill>
                  <a:schemeClr val="tx1"/>
                </a:solidFill>
                <a:latin typeface="Libre Baskerville" panose="02000000000000000000" pitchFamily="2" charset="0"/>
              </a:rPr>
              <a:t>Wardrobe</a:t>
            </a:r>
            <a:endParaRPr lang="en-US" dirty="0">
              <a:solidFill>
                <a:schemeClr val="tx1"/>
              </a:solidFill>
              <a:latin typeface="Libre Baskerville" panose="02000000000000000000" pitchFamily="2" charset="0"/>
            </a:endParaRPr>
          </a:p>
        </p:txBody>
      </p:sp>
      <p:sp>
        <p:nvSpPr>
          <p:cNvPr id="140" name="Rectangle 139"/>
          <p:cNvSpPr/>
          <p:nvPr/>
        </p:nvSpPr>
        <p:spPr>
          <a:xfrm rot="16200000">
            <a:off x="3102062" y="442218"/>
            <a:ext cx="739842" cy="382798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1200" dirty="0" smtClean="0">
                <a:solidFill>
                  <a:schemeClr val="tx1"/>
                </a:solidFill>
                <a:latin typeface="Libre Baskerville" panose="02000000000000000000" pitchFamily="2" charset="0"/>
              </a:rPr>
              <a:t>Hearth</a:t>
            </a:r>
            <a:endParaRPr lang="en-US" sz="1200" dirty="0">
              <a:solidFill>
                <a:schemeClr val="tx1"/>
              </a:solidFill>
              <a:latin typeface="Libre Baskerville" panose="02000000000000000000" pitchFamily="2" charset="0"/>
            </a:endParaRPr>
          </a:p>
        </p:txBody>
      </p:sp>
      <p:grpSp>
        <p:nvGrpSpPr>
          <p:cNvPr id="146" name="Group 145"/>
          <p:cNvGrpSpPr/>
          <p:nvPr/>
        </p:nvGrpSpPr>
        <p:grpSpPr>
          <a:xfrm>
            <a:off x="1255595" y="679876"/>
            <a:ext cx="229766" cy="717513"/>
            <a:chOff x="2873773" y="858073"/>
            <a:chExt cx="367513" cy="2710004"/>
          </a:xfrm>
          <a:solidFill>
            <a:schemeClr val="bg2">
              <a:lumMod val="50000"/>
            </a:schemeClr>
          </a:solidFill>
        </p:grpSpPr>
        <p:sp>
          <p:nvSpPr>
            <p:cNvPr id="126" name="Rectangle 125"/>
            <p:cNvSpPr/>
            <p:nvPr/>
          </p:nvSpPr>
          <p:spPr>
            <a:xfrm>
              <a:off x="2873773" y="858073"/>
              <a:ext cx="361311" cy="27100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1" name="Rectangle 140"/>
            <p:cNvSpPr/>
            <p:nvPr/>
          </p:nvSpPr>
          <p:spPr>
            <a:xfrm>
              <a:off x="3096246" y="858073"/>
              <a:ext cx="145040" cy="27100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144" name="Arc 143"/>
          <p:cNvSpPr/>
          <p:nvPr/>
        </p:nvSpPr>
        <p:spPr>
          <a:xfrm rot="5400000">
            <a:off x="6770284" y="3701762"/>
            <a:ext cx="751283" cy="828264"/>
          </a:xfrm>
          <a:prstGeom prst="arc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9" name="Group 148"/>
          <p:cNvGrpSpPr/>
          <p:nvPr/>
        </p:nvGrpSpPr>
        <p:grpSpPr>
          <a:xfrm>
            <a:off x="1150998" y="314274"/>
            <a:ext cx="281090" cy="281090"/>
            <a:chOff x="2836912" y="3174001"/>
            <a:chExt cx="377756" cy="377756"/>
          </a:xfrm>
          <a:solidFill>
            <a:schemeClr val="bg2">
              <a:lumMod val="50000"/>
            </a:schemeClr>
          </a:solidFill>
        </p:grpSpPr>
        <p:sp>
          <p:nvSpPr>
            <p:cNvPr id="147" name="Oval 146"/>
            <p:cNvSpPr/>
            <p:nvPr/>
          </p:nvSpPr>
          <p:spPr>
            <a:xfrm>
              <a:off x="2836912" y="3174001"/>
              <a:ext cx="377756" cy="377756"/>
            </a:xfrm>
            <a:prstGeom prst="ellipse">
              <a:avLst/>
            </a:prstGeom>
            <a:grpFill/>
            <a:ln w="57150">
              <a:solidFill>
                <a:srgbClr val="000000">
                  <a:alpha val="30196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8" name="Oval 147"/>
            <p:cNvSpPr/>
            <p:nvPr/>
          </p:nvSpPr>
          <p:spPr>
            <a:xfrm>
              <a:off x="2924781" y="3280114"/>
              <a:ext cx="45720" cy="45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150" name="Rectangle 149"/>
          <p:cNvSpPr/>
          <p:nvPr/>
        </p:nvSpPr>
        <p:spPr>
          <a:xfrm>
            <a:off x="7540308" y="263645"/>
            <a:ext cx="1310397" cy="376299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 smtClean="0">
                <a:solidFill>
                  <a:schemeClr val="tx1"/>
                </a:solidFill>
                <a:latin typeface="Libre Baskerville" panose="02000000000000000000" pitchFamily="2" charset="0"/>
              </a:rPr>
              <a:t>Bookcase</a:t>
            </a:r>
            <a:endParaRPr lang="en-US" dirty="0">
              <a:solidFill>
                <a:schemeClr val="tx1"/>
              </a:solidFill>
              <a:latin typeface="Libre Baskerville" panose="02000000000000000000" pitchFamily="2" charset="0"/>
            </a:endParaRPr>
          </a:p>
        </p:txBody>
      </p:sp>
      <p:sp>
        <p:nvSpPr>
          <p:cNvPr id="151" name="Rectangle 150"/>
          <p:cNvSpPr/>
          <p:nvPr/>
        </p:nvSpPr>
        <p:spPr>
          <a:xfrm>
            <a:off x="7551608" y="1036028"/>
            <a:ext cx="1310397" cy="376299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 smtClean="0">
                <a:solidFill>
                  <a:schemeClr val="tx1"/>
                </a:solidFill>
                <a:latin typeface="Libre Baskerville" panose="02000000000000000000" pitchFamily="2" charset="0"/>
              </a:rPr>
              <a:t>Bookcase</a:t>
            </a:r>
            <a:endParaRPr lang="en-US" dirty="0">
              <a:solidFill>
                <a:schemeClr val="tx1"/>
              </a:solidFill>
              <a:latin typeface="Libre Baskerville" panose="02000000000000000000" pitchFamily="2" charset="0"/>
            </a:endParaRPr>
          </a:p>
        </p:txBody>
      </p:sp>
      <p:sp>
        <p:nvSpPr>
          <p:cNvPr id="152" name="Rectangle 151"/>
          <p:cNvSpPr/>
          <p:nvPr/>
        </p:nvSpPr>
        <p:spPr>
          <a:xfrm>
            <a:off x="7540309" y="1804648"/>
            <a:ext cx="1310397" cy="376299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 smtClean="0">
                <a:solidFill>
                  <a:schemeClr val="tx1"/>
                </a:solidFill>
                <a:latin typeface="Libre Baskerville" panose="02000000000000000000" pitchFamily="2" charset="0"/>
              </a:rPr>
              <a:t>Bookcase</a:t>
            </a:r>
            <a:endParaRPr lang="en-US" dirty="0">
              <a:solidFill>
                <a:schemeClr val="tx1"/>
              </a:solidFill>
              <a:latin typeface="Libre Baskerville" panose="02000000000000000000" pitchFamily="2" charset="0"/>
            </a:endParaRPr>
          </a:p>
        </p:txBody>
      </p:sp>
      <p:sp>
        <p:nvSpPr>
          <p:cNvPr id="153" name="Rectangle 152"/>
          <p:cNvSpPr/>
          <p:nvPr/>
        </p:nvSpPr>
        <p:spPr>
          <a:xfrm>
            <a:off x="7540309" y="2576492"/>
            <a:ext cx="1310397" cy="376299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 smtClean="0">
                <a:solidFill>
                  <a:schemeClr val="tx1"/>
                </a:solidFill>
                <a:latin typeface="Libre Baskerville" panose="02000000000000000000" pitchFamily="2" charset="0"/>
              </a:rPr>
              <a:t>Bookcase</a:t>
            </a:r>
            <a:endParaRPr lang="en-US" dirty="0">
              <a:solidFill>
                <a:schemeClr val="tx1"/>
              </a:solidFill>
              <a:latin typeface="Libre Baskerville" panose="02000000000000000000" pitchFamily="2" charset="0"/>
            </a:endParaRPr>
          </a:p>
        </p:txBody>
      </p:sp>
      <p:sp>
        <p:nvSpPr>
          <p:cNvPr id="154" name="Rectangle 153"/>
          <p:cNvSpPr/>
          <p:nvPr/>
        </p:nvSpPr>
        <p:spPr>
          <a:xfrm>
            <a:off x="7542734" y="3351755"/>
            <a:ext cx="1310397" cy="376299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 smtClean="0">
                <a:solidFill>
                  <a:schemeClr val="tx1"/>
                </a:solidFill>
                <a:latin typeface="Libre Baskerville" panose="02000000000000000000" pitchFamily="2" charset="0"/>
              </a:rPr>
              <a:t>Bookcase</a:t>
            </a:r>
            <a:endParaRPr lang="en-US" dirty="0">
              <a:solidFill>
                <a:schemeClr val="tx1"/>
              </a:solidFill>
              <a:latin typeface="Libre Baskerville" panose="02000000000000000000" pitchFamily="2" charset="0"/>
            </a:endParaRPr>
          </a:p>
        </p:txBody>
      </p:sp>
      <p:sp>
        <p:nvSpPr>
          <p:cNvPr id="156" name="Rectangle 155"/>
          <p:cNvSpPr/>
          <p:nvPr/>
        </p:nvSpPr>
        <p:spPr>
          <a:xfrm>
            <a:off x="8433661" y="3920073"/>
            <a:ext cx="404620" cy="95912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7380376" y="4591029"/>
            <a:ext cx="9442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200" dirty="0" smtClean="0">
                <a:latin typeface="Libre Baskerville" panose="02000000000000000000" pitchFamily="2" charset="0"/>
              </a:rPr>
              <a:t>Library</a:t>
            </a:r>
            <a:endParaRPr lang="en-US" sz="1200" dirty="0">
              <a:latin typeface="Libre Baskerville" panose="02000000000000000000" pitchFamily="2" charset="0"/>
            </a:endParaRPr>
          </a:p>
        </p:txBody>
      </p:sp>
      <p:sp>
        <p:nvSpPr>
          <p:cNvPr id="180" name="Rectangle 179"/>
          <p:cNvSpPr/>
          <p:nvPr/>
        </p:nvSpPr>
        <p:spPr>
          <a:xfrm>
            <a:off x="234348" y="268748"/>
            <a:ext cx="836488" cy="369814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 smtClean="0">
                <a:solidFill>
                  <a:schemeClr val="tx1"/>
                </a:solidFill>
                <a:latin typeface="Libre Baskerville" panose="02000000000000000000" pitchFamily="2" charset="0"/>
              </a:rPr>
              <a:t>Hearth</a:t>
            </a:r>
            <a:endParaRPr lang="en-US" dirty="0">
              <a:solidFill>
                <a:schemeClr val="tx1"/>
              </a:solidFill>
              <a:latin typeface="Libre Baskerville" panose="02000000000000000000" pitchFamily="2" charset="0"/>
            </a:endParaRPr>
          </a:p>
        </p:txBody>
      </p:sp>
      <p:grpSp>
        <p:nvGrpSpPr>
          <p:cNvPr id="391" name="Group 390"/>
          <p:cNvGrpSpPr/>
          <p:nvPr/>
        </p:nvGrpSpPr>
        <p:grpSpPr>
          <a:xfrm>
            <a:off x="1504412" y="327573"/>
            <a:ext cx="1310540" cy="323038"/>
            <a:chOff x="1600145" y="344364"/>
            <a:chExt cx="1310540" cy="323038"/>
          </a:xfrm>
          <a:solidFill>
            <a:schemeClr val="bg2">
              <a:lumMod val="50000"/>
            </a:schemeClr>
          </a:solidFill>
        </p:grpSpPr>
        <p:sp>
          <p:nvSpPr>
            <p:cNvPr id="182" name="Rectangle 181"/>
            <p:cNvSpPr/>
            <p:nvPr/>
          </p:nvSpPr>
          <p:spPr>
            <a:xfrm flipH="1">
              <a:off x="2861180" y="344364"/>
              <a:ext cx="49402" cy="1008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1600145" y="435595"/>
              <a:ext cx="1310540" cy="231807"/>
              <a:chOff x="1600145" y="435595"/>
              <a:chExt cx="1310540" cy="231807"/>
            </a:xfrm>
            <a:grpFill/>
          </p:grpSpPr>
          <p:sp>
            <p:nvSpPr>
              <p:cNvPr id="181" name="Rectangle 180"/>
              <p:cNvSpPr/>
              <p:nvPr/>
            </p:nvSpPr>
            <p:spPr>
              <a:xfrm>
                <a:off x="1600288" y="435595"/>
                <a:ext cx="1310397" cy="23180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o-RO" dirty="0" smtClean="0">
                    <a:solidFill>
                      <a:schemeClr val="tx1"/>
                    </a:solidFill>
                    <a:latin typeface="Libre Baskerville" panose="02000000000000000000" pitchFamily="2" charset="0"/>
                  </a:rPr>
                  <a:t>Bar</a:t>
                </a:r>
                <a:endParaRPr lang="en-US" dirty="0">
                  <a:solidFill>
                    <a:schemeClr val="tx1"/>
                  </a:solidFill>
                  <a:latin typeface="Libre Baskerville" panose="02000000000000000000" pitchFamily="2" charset="0"/>
                </a:endParaRPr>
              </a:p>
            </p:txBody>
          </p:sp>
          <p:sp>
            <p:nvSpPr>
              <p:cNvPr id="183" name="Rectangle 182"/>
              <p:cNvSpPr/>
              <p:nvPr/>
            </p:nvSpPr>
            <p:spPr>
              <a:xfrm>
                <a:off x="1600145" y="581981"/>
                <a:ext cx="1304717" cy="85421"/>
              </a:xfrm>
              <a:prstGeom prst="rect">
                <a:avLst/>
              </a:prstGeom>
              <a:solidFill>
                <a:srgbClr val="000000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392" name="Group 391"/>
          <p:cNvGrpSpPr/>
          <p:nvPr/>
        </p:nvGrpSpPr>
        <p:grpSpPr>
          <a:xfrm>
            <a:off x="1620273" y="695295"/>
            <a:ext cx="1117712" cy="166866"/>
            <a:chOff x="1620273" y="695295"/>
            <a:chExt cx="1117712" cy="166866"/>
          </a:xfrm>
          <a:solidFill>
            <a:schemeClr val="bg2">
              <a:lumMod val="50000"/>
            </a:schemeClr>
          </a:solidFill>
        </p:grpSpPr>
        <p:sp>
          <p:nvSpPr>
            <p:cNvPr id="196" name="Oval 195"/>
            <p:cNvSpPr/>
            <p:nvPr/>
          </p:nvSpPr>
          <p:spPr>
            <a:xfrm>
              <a:off x="1620273" y="698651"/>
              <a:ext cx="109410" cy="109410"/>
            </a:xfrm>
            <a:prstGeom prst="ellipse">
              <a:avLst/>
            </a:prstGeom>
            <a:grpFill/>
            <a:ln w="57150">
              <a:solidFill>
                <a:srgbClr val="000000">
                  <a:alpha val="30196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98" name="Oval 197"/>
            <p:cNvSpPr/>
            <p:nvPr/>
          </p:nvSpPr>
          <p:spPr>
            <a:xfrm>
              <a:off x="1798819" y="707371"/>
              <a:ext cx="109410" cy="109410"/>
            </a:xfrm>
            <a:prstGeom prst="ellipse">
              <a:avLst/>
            </a:prstGeom>
            <a:grpFill/>
            <a:ln w="57150">
              <a:solidFill>
                <a:srgbClr val="000000">
                  <a:alpha val="30196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99" name="Oval 198"/>
            <p:cNvSpPr/>
            <p:nvPr/>
          </p:nvSpPr>
          <p:spPr>
            <a:xfrm>
              <a:off x="2011903" y="752751"/>
              <a:ext cx="109410" cy="109410"/>
            </a:xfrm>
            <a:prstGeom prst="ellipse">
              <a:avLst/>
            </a:prstGeom>
            <a:grpFill/>
            <a:ln w="57150">
              <a:solidFill>
                <a:srgbClr val="000000">
                  <a:alpha val="30196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00" name="Oval 199"/>
            <p:cNvSpPr/>
            <p:nvPr/>
          </p:nvSpPr>
          <p:spPr>
            <a:xfrm>
              <a:off x="2220568" y="695295"/>
              <a:ext cx="109410" cy="109410"/>
            </a:xfrm>
            <a:prstGeom prst="ellipse">
              <a:avLst/>
            </a:prstGeom>
            <a:grpFill/>
            <a:ln w="57150">
              <a:solidFill>
                <a:srgbClr val="000000">
                  <a:alpha val="30196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01" name="Oval 200"/>
            <p:cNvSpPr/>
            <p:nvPr/>
          </p:nvSpPr>
          <p:spPr>
            <a:xfrm>
              <a:off x="2419910" y="710441"/>
              <a:ext cx="109410" cy="109410"/>
            </a:xfrm>
            <a:prstGeom prst="ellipse">
              <a:avLst/>
            </a:prstGeom>
            <a:grpFill/>
            <a:ln w="57150">
              <a:solidFill>
                <a:srgbClr val="000000">
                  <a:alpha val="30196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02" name="Oval 201"/>
            <p:cNvSpPr/>
            <p:nvPr/>
          </p:nvSpPr>
          <p:spPr>
            <a:xfrm>
              <a:off x="2628575" y="710441"/>
              <a:ext cx="109410" cy="109410"/>
            </a:xfrm>
            <a:prstGeom prst="ellipse">
              <a:avLst/>
            </a:prstGeom>
            <a:grpFill/>
            <a:ln w="57150">
              <a:solidFill>
                <a:srgbClr val="000000">
                  <a:alpha val="30196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08" name="Group 207"/>
          <p:cNvGrpSpPr/>
          <p:nvPr/>
        </p:nvGrpSpPr>
        <p:grpSpPr>
          <a:xfrm>
            <a:off x="2863680" y="2215757"/>
            <a:ext cx="345447" cy="722055"/>
            <a:chOff x="2840255" y="1727778"/>
            <a:chExt cx="375115" cy="784067"/>
          </a:xfrm>
        </p:grpSpPr>
        <p:sp>
          <p:nvSpPr>
            <p:cNvPr id="209" name="Rounded Rectangle 208"/>
            <p:cNvSpPr/>
            <p:nvPr/>
          </p:nvSpPr>
          <p:spPr>
            <a:xfrm>
              <a:off x="2840255" y="1727778"/>
              <a:ext cx="375115" cy="784067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Rounded Rectangle 209"/>
            <p:cNvSpPr/>
            <p:nvPr/>
          </p:nvSpPr>
          <p:spPr>
            <a:xfrm>
              <a:off x="3005234" y="1790663"/>
              <a:ext cx="169472" cy="317138"/>
            </a:xfrm>
            <a:prstGeom prst="roundRect">
              <a:avLst/>
            </a:prstGeom>
            <a:solidFill>
              <a:srgbClr val="000000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" name="Rounded Rectangle 210"/>
            <p:cNvSpPr/>
            <p:nvPr/>
          </p:nvSpPr>
          <p:spPr>
            <a:xfrm>
              <a:off x="3005234" y="2126935"/>
              <a:ext cx="169472" cy="317138"/>
            </a:xfrm>
            <a:prstGeom prst="roundRect">
              <a:avLst/>
            </a:prstGeom>
            <a:solidFill>
              <a:srgbClr val="000000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" name="Rounded Rectangle 211"/>
            <p:cNvSpPr/>
            <p:nvPr/>
          </p:nvSpPr>
          <p:spPr>
            <a:xfrm>
              <a:off x="2876197" y="2455912"/>
              <a:ext cx="311241" cy="45719"/>
            </a:xfrm>
            <a:prstGeom prst="roundRect">
              <a:avLst/>
            </a:prstGeom>
            <a:solidFill>
              <a:srgbClr val="000000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3" name="Rounded Rectangle 212"/>
            <p:cNvSpPr/>
            <p:nvPr/>
          </p:nvSpPr>
          <p:spPr>
            <a:xfrm>
              <a:off x="2869623" y="1736815"/>
              <a:ext cx="311241" cy="45719"/>
            </a:xfrm>
            <a:prstGeom prst="roundRect">
              <a:avLst/>
            </a:prstGeom>
            <a:solidFill>
              <a:srgbClr val="000000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4" name="Rectangle 213"/>
          <p:cNvSpPr/>
          <p:nvPr/>
        </p:nvSpPr>
        <p:spPr>
          <a:xfrm>
            <a:off x="2848243" y="1055103"/>
            <a:ext cx="359731" cy="32653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216" name="Group 215"/>
          <p:cNvGrpSpPr/>
          <p:nvPr/>
        </p:nvGrpSpPr>
        <p:grpSpPr>
          <a:xfrm rot="9900000">
            <a:off x="2876233" y="3388887"/>
            <a:ext cx="281090" cy="281090"/>
            <a:chOff x="2836912" y="3174001"/>
            <a:chExt cx="377756" cy="377756"/>
          </a:xfrm>
          <a:solidFill>
            <a:schemeClr val="bg2">
              <a:lumMod val="50000"/>
            </a:schemeClr>
          </a:solidFill>
        </p:grpSpPr>
        <p:sp>
          <p:nvSpPr>
            <p:cNvPr id="217" name="Oval 216"/>
            <p:cNvSpPr/>
            <p:nvPr/>
          </p:nvSpPr>
          <p:spPr>
            <a:xfrm>
              <a:off x="2836912" y="3174001"/>
              <a:ext cx="377756" cy="377756"/>
            </a:xfrm>
            <a:prstGeom prst="ellipse">
              <a:avLst/>
            </a:prstGeom>
            <a:grpFill/>
            <a:ln w="57150">
              <a:solidFill>
                <a:srgbClr val="000000">
                  <a:alpha val="30196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18" name="Oval 217"/>
            <p:cNvSpPr/>
            <p:nvPr/>
          </p:nvSpPr>
          <p:spPr>
            <a:xfrm>
              <a:off x="2924781" y="3280114"/>
              <a:ext cx="45720" cy="45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32" name="Rectangle 231"/>
          <p:cNvSpPr/>
          <p:nvPr/>
        </p:nvSpPr>
        <p:spPr>
          <a:xfrm>
            <a:off x="1503994" y="247472"/>
            <a:ext cx="1249671" cy="68429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1833705" y="2590351"/>
            <a:ext cx="944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200" dirty="0" smtClean="0">
                <a:latin typeface="Libre Baskerville" panose="02000000000000000000" pitchFamily="2" charset="0"/>
              </a:rPr>
              <a:t>Drawing Room</a:t>
            </a:r>
            <a:endParaRPr lang="en-US" sz="1200" dirty="0">
              <a:latin typeface="Libre Baskerville" panose="02000000000000000000" pitchFamily="2" charset="0"/>
            </a:endParaRPr>
          </a:p>
        </p:txBody>
      </p:sp>
      <p:grpSp>
        <p:nvGrpSpPr>
          <p:cNvPr id="263" name="Group 262"/>
          <p:cNvGrpSpPr/>
          <p:nvPr/>
        </p:nvGrpSpPr>
        <p:grpSpPr>
          <a:xfrm rot="16200000">
            <a:off x="1141902" y="1810620"/>
            <a:ext cx="294854" cy="368561"/>
            <a:chOff x="2840254" y="2042961"/>
            <a:chExt cx="375115" cy="468886"/>
          </a:xfrm>
        </p:grpSpPr>
        <p:sp>
          <p:nvSpPr>
            <p:cNvPr id="265" name="Rounded Rectangle 264"/>
            <p:cNvSpPr/>
            <p:nvPr/>
          </p:nvSpPr>
          <p:spPr>
            <a:xfrm>
              <a:off x="2840254" y="2042961"/>
              <a:ext cx="375115" cy="468886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8" name="Rounded Rectangle 267"/>
            <p:cNvSpPr/>
            <p:nvPr/>
          </p:nvSpPr>
          <p:spPr>
            <a:xfrm>
              <a:off x="3016430" y="2120404"/>
              <a:ext cx="169472" cy="317138"/>
            </a:xfrm>
            <a:prstGeom prst="roundRect">
              <a:avLst/>
            </a:prstGeom>
            <a:solidFill>
              <a:srgbClr val="000000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9" name="Rounded Rectangle 268"/>
            <p:cNvSpPr/>
            <p:nvPr/>
          </p:nvSpPr>
          <p:spPr>
            <a:xfrm>
              <a:off x="2876197" y="2455912"/>
              <a:ext cx="311241" cy="45719"/>
            </a:xfrm>
            <a:prstGeom prst="roundRect">
              <a:avLst/>
            </a:prstGeom>
            <a:solidFill>
              <a:srgbClr val="000000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0" name="Rounded Rectangle 269"/>
            <p:cNvSpPr/>
            <p:nvPr/>
          </p:nvSpPr>
          <p:spPr>
            <a:xfrm>
              <a:off x="2869622" y="2056432"/>
              <a:ext cx="311241" cy="45719"/>
            </a:xfrm>
            <a:prstGeom prst="roundRect">
              <a:avLst/>
            </a:prstGeom>
            <a:solidFill>
              <a:srgbClr val="000000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77" name="Straight Connector 76"/>
          <p:cNvCxnSpPr/>
          <p:nvPr/>
        </p:nvCxnSpPr>
        <p:spPr>
          <a:xfrm>
            <a:off x="5833241" y="1800633"/>
            <a:ext cx="453259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/>
          <p:cNvCxnSpPr/>
          <p:nvPr/>
        </p:nvCxnSpPr>
        <p:spPr>
          <a:xfrm>
            <a:off x="7153319" y="4107270"/>
            <a:ext cx="406739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Connector 275"/>
          <p:cNvCxnSpPr/>
          <p:nvPr/>
        </p:nvCxnSpPr>
        <p:spPr>
          <a:xfrm flipV="1">
            <a:off x="6266496" y="2151461"/>
            <a:ext cx="0" cy="40565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Straight Connector 278"/>
          <p:cNvCxnSpPr/>
          <p:nvPr/>
        </p:nvCxnSpPr>
        <p:spPr>
          <a:xfrm flipV="1">
            <a:off x="3262313" y="2555138"/>
            <a:ext cx="3024187" cy="1973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Straight Connector 281"/>
          <p:cNvCxnSpPr/>
          <p:nvPr/>
        </p:nvCxnSpPr>
        <p:spPr>
          <a:xfrm flipH="1" flipV="1">
            <a:off x="3260903" y="252780"/>
            <a:ext cx="1410" cy="3475274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Connector 290"/>
          <p:cNvCxnSpPr/>
          <p:nvPr/>
        </p:nvCxnSpPr>
        <p:spPr>
          <a:xfrm flipH="1" flipV="1">
            <a:off x="7126167" y="4473545"/>
            <a:ext cx="3334" cy="430094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3" name="Rectangle 292"/>
          <p:cNvSpPr/>
          <p:nvPr/>
        </p:nvSpPr>
        <p:spPr>
          <a:xfrm>
            <a:off x="5823757" y="257209"/>
            <a:ext cx="425902" cy="188996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>
              <a:solidFill>
                <a:schemeClr val="tx1"/>
              </a:solidFill>
              <a:latin typeface="Libre Baskerville" panose="02000000000000000000" pitchFamily="2" charset="0"/>
            </a:endParaRPr>
          </a:p>
        </p:txBody>
      </p:sp>
      <p:grpSp>
        <p:nvGrpSpPr>
          <p:cNvPr id="294" name="Group 293"/>
          <p:cNvGrpSpPr/>
          <p:nvPr/>
        </p:nvGrpSpPr>
        <p:grpSpPr>
          <a:xfrm>
            <a:off x="2854588" y="1439605"/>
            <a:ext cx="345447" cy="722055"/>
            <a:chOff x="2840255" y="1727778"/>
            <a:chExt cx="375115" cy="784067"/>
          </a:xfrm>
        </p:grpSpPr>
        <p:sp>
          <p:nvSpPr>
            <p:cNvPr id="295" name="Rounded Rectangle 294"/>
            <p:cNvSpPr/>
            <p:nvPr/>
          </p:nvSpPr>
          <p:spPr>
            <a:xfrm>
              <a:off x="2840255" y="1727778"/>
              <a:ext cx="375115" cy="784067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6" name="Rounded Rectangle 295"/>
            <p:cNvSpPr/>
            <p:nvPr/>
          </p:nvSpPr>
          <p:spPr>
            <a:xfrm>
              <a:off x="3005234" y="1790663"/>
              <a:ext cx="169472" cy="317138"/>
            </a:xfrm>
            <a:prstGeom prst="roundRect">
              <a:avLst/>
            </a:prstGeom>
            <a:solidFill>
              <a:srgbClr val="000000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7" name="Rounded Rectangle 296"/>
            <p:cNvSpPr/>
            <p:nvPr/>
          </p:nvSpPr>
          <p:spPr>
            <a:xfrm>
              <a:off x="3005234" y="2126935"/>
              <a:ext cx="169472" cy="317138"/>
            </a:xfrm>
            <a:prstGeom prst="roundRect">
              <a:avLst/>
            </a:prstGeom>
            <a:solidFill>
              <a:srgbClr val="000000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8" name="Rounded Rectangle 297"/>
            <p:cNvSpPr/>
            <p:nvPr/>
          </p:nvSpPr>
          <p:spPr>
            <a:xfrm>
              <a:off x="2876197" y="2455912"/>
              <a:ext cx="311241" cy="45719"/>
            </a:xfrm>
            <a:prstGeom prst="roundRect">
              <a:avLst/>
            </a:prstGeom>
            <a:solidFill>
              <a:srgbClr val="000000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9" name="Rounded Rectangle 298"/>
            <p:cNvSpPr/>
            <p:nvPr/>
          </p:nvSpPr>
          <p:spPr>
            <a:xfrm>
              <a:off x="2869623" y="1736815"/>
              <a:ext cx="311241" cy="45719"/>
            </a:xfrm>
            <a:prstGeom prst="roundRect">
              <a:avLst/>
            </a:prstGeom>
            <a:solidFill>
              <a:srgbClr val="000000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04" name="Straight Connector 303"/>
          <p:cNvCxnSpPr/>
          <p:nvPr/>
        </p:nvCxnSpPr>
        <p:spPr>
          <a:xfrm>
            <a:off x="1520827" y="3734212"/>
            <a:ext cx="1755926" cy="1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Straight Connector 307"/>
          <p:cNvCxnSpPr/>
          <p:nvPr/>
        </p:nvCxnSpPr>
        <p:spPr>
          <a:xfrm flipV="1">
            <a:off x="1517228" y="2583345"/>
            <a:ext cx="0" cy="1155574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Straight Connector 311"/>
          <p:cNvCxnSpPr/>
          <p:nvPr/>
        </p:nvCxnSpPr>
        <p:spPr>
          <a:xfrm flipV="1">
            <a:off x="1517228" y="244759"/>
            <a:ext cx="0" cy="1943318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Straight Connector 313"/>
          <p:cNvCxnSpPr/>
          <p:nvPr/>
        </p:nvCxnSpPr>
        <p:spPr>
          <a:xfrm>
            <a:off x="1496024" y="2188077"/>
            <a:ext cx="453259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Straight Connector 314"/>
          <p:cNvCxnSpPr/>
          <p:nvPr/>
        </p:nvCxnSpPr>
        <p:spPr>
          <a:xfrm>
            <a:off x="1090038" y="1807192"/>
            <a:ext cx="420033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Straight Connector 316"/>
          <p:cNvCxnSpPr/>
          <p:nvPr/>
        </p:nvCxnSpPr>
        <p:spPr>
          <a:xfrm>
            <a:off x="212922" y="1807192"/>
            <a:ext cx="444719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Straight Connector 321"/>
          <p:cNvCxnSpPr/>
          <p:nvPr/>
        </p:nvCxnSpPr>
        <p:spPr>
          <a:xfrm>
            <a:off x="642319" y="1417464"/>
            <a:ext cx="4519" cy="400652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7" name="Group 326"/>
          <p:cNvGrpSpPr/>
          <p:nvPr/>
        </p:nvGrpSpPr>
        <p:grpSpPr>
          <a:xfrm rot="4599317">
            <a:off x="1594958" y="3388850"/>
            <a:ext cx="281090" cy="281090"/>
            <a:chOff x="2836912" y="3174001"/>
            <a:chExt cx="377756" cy="377756"/>
          </a:xfrm>
          <a:solidFill>
            <a:schemeClr val="bg2">
              <a:lumMod val="50000"/>
            </a:schemeClr>
          </a:solidFill>
        </p:grpSpPr>
        <p:sp>
          <p:nvSpPr>
            <p:cNvPr id="328" name="Oval 327"/>
            <p:cNvSpPr/>
            <p:nvPr/>
          </p:nvSpPr>
          <p:spPr>
            <a:xfrm>
              <a:off x="2836912" y="3174001"/>
              <a:ext cx="377756" cy="377756"/>
            </a:xfrm>
            <a:prstGeom prst="ellipse">
              <a:avLst/>
            </a:prstGeom>
            <a:grpFill/>
            <a:ln w="57150">
              <a:solidFill>
                <a:srgbClr val="000000">
                  <a:alpha val="30196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29" name="Oval 328"/>
            <p:cNvSpPr/>
            <p:nvPr/>
          </p:nvSpPr>
          <p:spPr>
            <a:xfrm>
              <a:off x="2924781" y="3280114"/>
              <a:ext cx="45720" cy="457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389" name="Rectangle 388"/>
          <p:cNvSpPr/>
          <p:nvPr/>
        </p:nvSpPr>
        <p:spPr>
          <a:xfrm rot="16200000">
            <a:off x="-536218" y="2729599"/>
            <a:ext cx="1283232" cy="2060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1200" dirty="0" smtClean="0">
                <a:solidFill>
                  <a:schemeClr val="tx1"/>
                </a:solidFill>
                <a:latin typeface="Libre Baskerville" panose="02000000000000000000" pitchFamily="2" charset="0"/>
              </a:rPr>
              <a:t>Dining Area</a:t>
            </a:r>
            <a:endParaRPr lang="en-US" sz="1200" dirty="0">
              <a:solidFill>
                <a:schemeClr val="tx1"/>
              </a:solidFill>
              <a:latin typeface="Libre Baskerville" panose="02000000000000000000" pitchFamily="2" charset="0"/>
            </a:endParaRPr>
          </a:p>
        </p:txBody>
      </p:sp>
      <p:grpSp>
        <p:nvGrpSpPr>
          <p:cNvPr id="393" name="Group 392"/>
          <p:cNvGrpSpPr/>
          <p:nvPr/>
        </p:nvGrpSpPr>
        <p:grpSpPr>
          <a:xfrm rot="16200000">
            <a:off x="278286" y="1826476"/>
            <a:ext cx="294854" cy="368561"/>
            <a:chOff x="2840254" y="2042961"/>
            <a:chExt cx="375115" cy="468886"/>
          </a:xfrm>
        </p:grpSpPr>
        <p:sp>
          <p:nvSpPr>
            <p:cNvPr id="394" name="Rounded Rectangle 393"/>
            <p:cNvSpPr/>
            <p:nvPr/>
          </p:nvSpPr>
          <p:spPr>
            <a:xfrm>
              <a:off x="2840254" y="2042961"/>
              <a:ext cx="375115" cy="468886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5" name="Rounded Rectangle 394"/>
            <p:cNvSpPr/>
            <p:nvPr/>
          </p:nvSpPr>
          <p:spPr>
            <a:xfrm>
              <a:off x="3016430" y="2120404"/>
              <a:ext cx="169472" cy="317138"/>
            </a:xfrm>
            <a:prstGeom prst="roundRect">
              <a:avLst/>
            </a:prstGeom>
            <a:solidFill>
              <a:srgbClr val="000000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6" name="Rounded Rectangle 395"/>
            <p:cNvSpPr/>
            <p:nvPr/>
          </p:nvSpPr>
          <p:spPr>
            <a:xfrm>
              <a:off x="2876197" y="2455912"/>
              <a:ext cx="311241" cy="45719"/>
            </a:xfrm>
            <a:prstGeom prst="roundRect">
              <a:avLst/>
            </a:prstGeom>
            <a:solidFill>
              <a:srgbClr val="000000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7" name="Rounded Rectangle 396"/>
            <p:cNvSpPr/>
            <p:nvPr/>
          </p:nvSpPr>
          <p:spPr>
            <a:xfrm>
              <a:off x="2869622" y="2056432"/>
              <a:ext cx="311241" cy="45719"/>
            </a:xfrm>
            <a:prstGeom prst="roundRect">
              <a:avLst/>
            </a:prstGeom>
            <a:solidFill>
              <a:srgbClr val="000000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2" name="Rectangle 291"/>
          <p:cNvSpPr/>
          <p:nvPr/>
        </p:nvSpPr>
        <p:spPr>
          <a:xfrm>
            <a:off x="207322" y="4140772"/>
            <a:ext cx="1288702" cy="771886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8" name="Rectangle 397"/>
          <p:cNvSpPr/>
          <p:nvPr/>
        </p:nvSpPr>
        <p:spPr>
          <a:xfrm>
            <a:off x="4116171" y="263645"/>
            <a:ext cx="846978" cy="376299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23" name="Group 122"/>
          <p:cNvGrpSpPr/>
          <p:nvPr/>
        </p:nvGrpSpPr>
        <p:grpSpPr>
          <a:xfrm>
            <a:off x="202508" y="4133901"/>
            <a:ext cx="1304039" cy="773312"/>
            <a:chOff x="206032" y="4254500"/>
            <a:chExt cx="1323707" cy="644240"/>
          </a:xfrm>
        </p:grpSpPr>
        <p:grpSp>
          <p:nvGrpSpPr>
            <p:cNvPr id="58" name="Group 57"/>
            <p:cNvGrpSpPr/>
            <p:nvPr/>
          </p:nvGrpSpPr>
          <p:grpSpPr>
            <a:xfrm>
              <a:off x="206032" y="4254500"/>
              <a:ext cx="1323707" cy="644240"/>
              <a:chOff x="238393" y="4254500"/>
              <a:chExt cx="1323707" cy="644240"/>
            </a:xfrm>
          </p:grpSpPr>
          <p:sp>
            <p:nvSpPr>
              <p:cNvPr id="52" name="Rectangle 51"/>
              <p:cNvSpPr/>
              <p:nvPr/>
            </p:nvSpPr>
            <p:spPr>
              <a:xfrm>
                <a:off x="243972" y="4254500"/>
                <a:ext cx="1318128" cy="644240"/>
              </a:xfrm>
              <a:prstGeom prst="rect">
                <a:avLst/>
              </a:prstGeom>
              <a:solidFill>
                <a:srgbClr val="000000">
                  <a:alpha val="14902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Rectangle 52"/>
              <p:cNvSpPr/>
              <p:nvPr/>
            </p:nvSpPr>
            <p:spPr>
              <a:xfrm>
                <a:off x="243972" y="4254500"/>
                <a:ext cx="1207583" cy="644240"/>
              </a:xfrm>
              <a:prstGeom prst="rect">
                <a:avLst/>
              </a:prstGeom>
              <a:solidFill>
                <a:srgbClr val="000000">
                  <a:alpha val="14902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Rectangle 53"/>
              <p:cNvSpPr/>
              <p:nvPr/>
            </p:nvSpPr>
            <p:spPr>
              <a:xfrm>
                <a:off x="243972" y="4254500"/>
                <a:ext cx="1108578" cy="644240"/>
              </a:xfrm>
              <a:prstGeom prst="rect">
                <a:avLst/>
              </a:prstGeom>
              <a:solidFill>
                <a:srgbClr val="000000">
                  <a:alpha val="14902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Rectangle 54"/>
              <p:cNvSpPr/>
              <p:nvPr/>
            </p:nvSpPr>
            <p:spPr>
              <a:xfrm>
                <a:off x="252076" y="4254500"/>
                <a:ext cx="986174" cy="644240"/>
              </a:xfrm>
              <a:prstGeom prst="rect">
                <a:avLst/>
              </a:prstGeom>
              <a:solidFill>
                <a:srgbClr val="000000">
                  <a:alpha val="14902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Rectangle 55"/>
              <p:cNvSpPr/>
              <p:nvPr/>
            </p:nvSpPr>
            <p:spPr>
              <a:xfrm>
                <a:off x="240607" y="4254500"/>
                <a:ext cx="909030" cy="644240"/>
              </a:xfrm>
              <a:prstGeom prst="rect">
                <a:avLst/>
              </a:prstGeom>
              <a:solidFill>
                <a:srgbClr val="000000">
                  <a:alpha val="14902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Rectangle 56"/>
              <p:cNvSpPr/>
              <p:nvPr/>
            </p:nvSpPr>
            <p:spPr>
              <a:xfrm>
                <a:off x="248058" y="4254500"/>
                <a:ext cx="799692" cy="644240"/>
              </a:xfrm>
              <a:prstGeom prst="rect">
                <a:avLst/>
              </a:prstGeom>
              <a:solidFill>
                <a:srgbClr val="000000">
                  <a:alpha val="14902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Rectangle 58"/>
              <p:cNvSpPr/>
              <p:nvPr/>
            </p:nvSpPr>
            <p:spPr>
              <a:xfrm>
                <a:off x="238393" y="4254500"/>
                <a:ext cx="714107" cy="644240"/>
              </a:xfrm>
              <a:prstGeom prst="rect">
                <a:avLst/>
              </a:prstGeom>
              <a:solidFill>
                <a:srgbClr val="000000">
                  <a:alpha val="14902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22" name="TextBox 121"/>
            <p:cNvSpPr txBox="1"/>
            <p:nvPr/>
          </p:nvSpPr>
          <p:spPr>
            <a:xfrm>
              <a:off x="235250" y="4310828"/>
              <a:ext cx="1020142" cy="4230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dirty="0" smtClean="0">
                  <a:solidFill>
                    <a:schemeClr val="bg1"/>
                  </a:solidFill>
                  <a:latin typeface="Libre Baskerville" panose="02000000000000000000" pitchFamily="2" charset="0"/>
                </a:rPr>
                <a:t>Wine Cellar</a:t>
              </a:r>
              <a:endParaRPr lang="en-US" dirty="0">
                <a:solidFill>
                  <a:schemeClr val="bg1"/>
                </a:solidFill>
                <a:latin typeface="Libre Baskerville" panose="02000000000000000000" pitchFamily="2" charset="0"/>
              </a:endParaRPr>
            </a:p>
          </p:txBody>
        </p:sp>
      </p:grpSp>
      <p:sp>
        <p:nvSpPr>
          <p:cNvPr id="302" name="Rectangle 301"/>
          <p:cNvSpPr/>
          <p:nvPr/>
        </p:nvSpPr>
        <p:spPr>
          <a:xfrm>
            <a:off x="6264343" y="244534"/>
            <a:ext cx="882514" cy="1034156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84" name="Group 183"/>
          <p:cNvGrpSpPr/>
          <p:nvPr/>
        </p:nvGrpSpPr>
        <p:grpSpPr>
          <a:xfrm rot="5400000">
            <a:off x="6179892" y="315181"/>
            <a:ext cx="1035437" cy="891585"/>
            <a:chOff x="206032" y="4254498"/>
            <a:chExt cx="1323707" cy="644242"/>
          </a:xfrm>
        </p:grpSpPr>
        <p:grpSp>
          <p:nvGrpSpPr>
            <p:cNvPr id="185" name="Group 184"/>
            <p:cNvGrpSpPr/>
            <p:nvPr/>
          </p:nvGrpSpPr>
          <p:grpSpPr>
            <a:xfrm>
              <a:off x="206032" y="4254498"/>
              <a:ext cx="1323707" cy="644242"/>
              <a:chOff x="238393" y="4254498"/>
              <a:chExt cx="1323707" cy="644242"/>
            </a:xfrm>
          </p:grpSpPr>
          <p:sp>
            <p:nvSpPr>
              <p:cNvPr id="187" name="Rectangle 186"/>
              <p:cNvSpPr/>
              <p:nvPr/>
            </p:nvSpPr>
            <p:spPr>
              <a:xfrm>
                <a:off x="243972" y="4254500"/>
                <a:ext cx="1318128" cy="644240"/>
              </a:xfrm>
              <a:prstGeom prst="rect">
                <a:avLst/>
              </a:prstGeom>
              <a:solidFill>
                <a:srgbClr val="000000">
                  <a:alpha val="14902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8" name="Rectangle 187"/>
              <p:cNvSpPr/>
              <p:nvPr/>
            </p:nvSpPr>
            <p:spPr>
              <a:xfrm>
                <a:off x="243972" y="4254500"/>
                <a:ext cx="1207583" cy="644240"/>
              </a:xfrm>
              <a:prstGeom prst="rect">
                <a:avLst/>
              </a:prstGeom>
              <a:solidFill>
                <a:srgbClr val="000000">
                  <a:alpha val="14902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9" name="Rectangle 188"/>
              <p:cNvSpPr/>
              <p:nvPr/>
            </p:nvSpPr>
            <p:spPr>
              <a:xfrm>
                <a:off x="243972" y="4254500"/>
                <a:ext cx="1108578" cy="644240"/>
              </a:xfrm>
              <a:prstGeom prst="rect">
                <a:avLst/>
              </a:prstGeom>
              <a:solidFill>
                <a:srgbClr val="000000">
                  <a:alpha val="14902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0" name="Rectangle 189"/>
              <p:cNvSpPr/>
              <p:nvPr/>
            </p:nvSpPr>
            <p:spPr>
              <a:xfrm>
                <a:off x="252076" y="4254500"/>
                <a:ext cx="986174" cy="644240"/>
              </a:xfrm>
              <a:prstGeom prst="rect">
                <a:avLst/>
              </a:prstGeom>
              <a:solidFill>
                <a:srgbClr val="000000">
                  <a:alpha val="14902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1" name="Rectangle 190"/>
              <p:cNvSpPr/>
              <p:nvPr/>
            </p:nvSpPr>
            <p:spPr>
              <a:xfrm>
                <a:off x="240608" y="4254498"/>
                <a:ext cx="909030" cy="644240"/>
              </a:xfrm>
              <a:prstGeom prst="rect">
                <a:avLst/>
              </a:prstGeom>
              <a:solidFill>
                <a:srgbClr val="000000">
                  <a:alpha val="14902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2" name="Rectangle 191"/>
              <p:cNvSpPr/>
              <p:nvPr/>
            </p:nvSpPr>
            <p:spPr>
              <a:xfrm>
                <a:off x="248058" y="4254500"/>
                <a:ext cx="799692" cy="644240"/>
              </a:xfrm>
              <a:prstGeom prst="rect">
                <a:avLst/>
              </a:prstGeom>
              <a:solidFill>
                <a:srgbClr val="000000">
                  <a:alpha val="14902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3" name="Rectangle 192"/>
              <p:cNvSpPr/>
              <p:nvPr/>
            </p:nvSpPr>
            <p:spPr>
              <a:xfrm>
                <a:off x="238393" y="4254500"/>
                <a:ext cx="714107" cy="644240"/>
              </a:xfrm>
              <a:prstGeom prst="rect">
                <a:avLst/>
              </a:prstGeom>
              <a:solidFill>
                <a:srgbClr val="000000">
                  <a:alpha val="14902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86" name="TextBox 185"/>
            <p:cNvSpPr txBox="1"/>
            <p:nvPr/>
          </p:nvSpPr>
          <p:spPr>
            <a:xfrm rot="16200000">
              <a:off x="293841" y="4297485"/>
              <a:ext cx="537884" cy="523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sz="1000" dirty="0" smtClean="0">
                  <a:solidFill>
                    <a:schemeClr val="bg1"/>
                  </a:solidFill>
                  <a:latin typeface="Libre Baskerville" panose="02000000000000000000" pitchFamily="2" charset="0"/>
                </a:rPr>
                <a:t>Second Floor</a:t>
              </a:r>
              <a:endParaRPr lang="en-US" sz="1000" dirty="0">
                <a:solidFill>
                  <a:schemeClr val="bg1"/>
                </a:solidFill>
                <a:latin typeface="Libre Baskerville" panose="02000000000000000000" pitchFamily="2" charset="0"/>
              </a:endParaRPr>
            </a:p>
          </p:txBody>
        </p:sp>
      </p:grpSp>
      <p:cxnSp>
        <p:nvCxnSpPr>
          <p:cNvPr id="273" name="Straight Connector 272"/>
          <p:cNvCxnSpPr/>
          <p:nvPr/>
        </p:nvCxnSpPr>
        <p:spPr>
          <a:xfrm flipV="1">
            <a:off x="7153319" y="244759"/>
            <a:ext cx="0" cy="3862511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/>
          <p:nvPr/>
        </p:nvCxnSpPr>
        <p:spPr>
          <a:xfrm flipV="1">
            <a:off x="6270802" y="244759"/>
            <a:ext cx="0" cy="1562896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2778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189</TotalTime>
  <Words>48</Words>
  <Application>Microsoft Office PowerPoint</Application>
  <PresentationFormat>On-screen Show (16:9)</PresentationFormat>
  <Paragraphs>38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Libre Baskerville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126</cp:revision>
  <dcterms:created xsi:type="dcterms:W3CDTF">2026-07-18T12:36:53Z</dcterms:created>
  <dcterms:modified xsi:type="dcterms:W3CDTF">2026-07-20T19:51:23Z</dcterms:modified>
</cp:coreProperties>
</file>